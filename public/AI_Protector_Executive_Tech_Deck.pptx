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 AI PROTECTOR: ZERO-TRUST THREAT DEFENSE PLATFORM ===
[EXECUTIVE BOTTOM LINE]
AI Protector is an enterprise-grade, privacy-first cybersecurity platform designed for mass consumer adoption and developer trust.
[WORD-FOR-WORD PITCH SCRIPT (30-45 SECONDS)]
Good morning, judges and colleagues. Today, cyber fraud and phishing target billions of users daily through urgent SMS messages, spoofed bank links, and fraudulent APK downloads. Traditional security solutions fail because they invade privacy—uploading full browsing history and private chats to central servers. AI Protector solves this with a zero-trust model: we scrub all sensitive Indian PII on your device before network transmission, block obfuscated SSRF attacks, and verify threats across 70+ antivirus engines without storing a single byte of personal data.
[LAYMAN ANALOGY (EASY TO EXPLAIN)]
Think of AI Protector like an airport security scanner that X-rays a locked suitcase and immediately shreds the image the second you walk through. It verifies safety with zero copies, zero storage, and zero tracking.
[DEEP TECHNICAL BREAKDOWN]
Next.js 16 Turbopack backend with strict TypeScript, Web Crypto API hardware hashing, and Section 5 Scan Result contract enforcement.
[ANTICIPATED EVALUATOR Q&amp;A]
Q: Why should users trust AI Protector over built-in browser warnings?
A: Browsers only check URLs against static Google Safe Browsing blocklists. AI Protector analyzes full SMS message semantics, detects typosquatting before blocklist indexing, redacts PII under DPDP Act 2023, and provides immediate emergency financial recovery steps via 1930 Golden Hour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2: THE CRISIS: CYBER FRAUD &amp; EXPLOITATION AT BILLIONS SCALE ===
[EXECUTIVE BOTTOM LINE]
Cyber fraud is now industrialized; attackers exploit psychological pressure, network evasion, and the privacy shortcomings of existing security tools.
[WORD-FOR-WORD PITCH SCRIPT (30-45 SECONDS)]
In India alone, thousands of citizens lose their life savings every day to fake KYC suspension notices, electricity cutoff threats, and rogue loan apps. Attackers rely on psychological panic and technical tricks—like hex-encoded IPs (0x7f000001) that slip past basic web filters. Meanwhile, traditional antivirus tools behave like spyware, harvesting entire chat histories and search queries into centralized databases. AI Protector directly attacks both problems: high-precision threat detection paired with ironclad privacy protection.
[LAYMAN ANALOGY (EASY TO EXPLAIN)]
Imagine a scammer disguising their identity by changing the spelling on their name badge. Standard filters get fooled, but AI Protector checks the underlying DNA before letting them in.
[DEEP TECHNICAL BREAKDOWN]
RFC 3986 URI normalization, Levenshtein distance string matching against 50+ financial domains, and IP address representation resolution.
[ANTICIPATED EVALUATOR Q&amp;A]
Q: What is the most common technical flaw in conventional URL safety checkers?
A: Most rely purely on standard DNS resolution or simple string checks. They fail on alternate IP encodings (octal, hex, dword) and fail to inspect the message context, letting brand-new zero-day domains slip through before blocklists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3: CORE PRINCIPLES &amp; NON-NEGOTIABLE INVARIANTS ===
[EXECUTIVE BOTTOM LINE]
Our 4 non-negotiable invariants guarantee user privacy and mathematical threat authority.
[WORD-FOR-WORD PITCH SCRIPT (30-45 SECONDS)]
Trust in security software must be backed by architectural guarantees, not marketing claims. We enforce four inviolable invariants. First: Zero Server Retention—we never log raw messages or URLs; only hostnames and SHA-256 hashes are recorded. Second: Pre-flight client redaction—Aadhaar, PAN, and UPI IDs are scrubbed right in your browser before packets hit the internet. Third: Fail-closed honesty—if VirusTotal or our network times out, we honestly say "unavailable", never a false "safe". And fourth: Deterministic Authority—generative AI models provide explanations, but they cannot downgrade a threat flag.
[LAYMAN ANALOGY (EASY TO EXPLAIN)]
Invariant 4 is like a court of law where the AI is an expert translator, not the jury or judge. If the fingerprint matches a known criminal, the translator is not allowed to acquit the suspect.
[DEEP TECHNICAL BREAKDOWN]
Implemented via deterministic status matrices in /src/lib/scanners/result-synthesizer.ts and verified by 105 automated unit tests.
[ANTICIPATED EVALUATOR Q&amp;A]
Q: Can a malicious user craft an AI prompt inside a message to fool AI Protector into saying it is safe?
A: No. Invariant #4 ensures that deterministic regex, SSRF, and VirusTotal checks run first. If a threat rule matches, the status is locked to "known_malicious" or "suspicious" regardless of what the LLM responds.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4: THE COMPLETE MODERN TECH STACK ===
[EXECUTIVE BOTTOM LINE]
A modern, modular Next.js 16 stack engineered for sub-second edge execution, client-side cryptography, and strict zero-leakage security.
[WORD-FOR-WORD PITCH SCRIPT (30-45 SECONDS)]
Let us look under the hood at our technology stack. On the frontend, we use Next.js 16 with Turbopack and React 19, enabling sub-300ms builds and seamless streaming. For defense, our custom Node engine decomposes obfuscated IP schemes and coordinates with VirusTotal v3 and Google Gemini 3.5 Flash. For file checks, we use the W3C Web Crypto API directly in the browser—meaning multi-gigabyte files are hashed using hardware acceleration on your device without uploading a single byte to our servers. Finally, our Manifest V3 extension intercepts malicious URLs directly at the navigation boundary.
[LAYMAN ANALOGY (EASY TO EXPLAIN)]
Instead of sending your car to a mechanic across town to check if a key fits, you test the key in your own driveway with precision tools.
[DEEP TECHNICAL BREAKDOWN]
Next.js 16.4.2 Turbopack, Node 20+ LTS, Web Crypto API, VirusTotal v3 API, Zod schema validation, Timing-safe buffer comparisons.
[ANTICIPATED EVALUATOR Q&amp;A]
Q: Why didn’t you use Python for the entire backend?
A: TypeScript with Next.js 16 allows shared strict types between browser and API boundaries, faster cold starts on serverless edge networks, and lower memory footprint. Python 3.12 is reserved strictly for isolated worker sandboxes (Phase 5 YARA-X).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5: END-TO-END THREAT INSPECTION LIFECYCLE ===
[EXECUTIVE BOTTOM LINE]
A deterministic 5-stage pipeline ensuring zero leakage, strict network egress safety, and multi-engine threat consensus.
[WORD-FOR-WORD PITCH SCRIPT (30-45 SECONDS)]
Here is the complete journey of a scan. In Step 1, the user submits a link or message. In Step 2, our client-side redactor strips all Aadhaar, PAN, and UPI data before the request leaves the browser. In Step 3, our anti-SSRF shield tests the host against dangerous IP encodings and internal cloud networks. In Step 4, we query multiple engines simultaneously—including local heuristics and VirusTotal. Finally, in Step 5, we output our standardized Section 5 verdict with concrete, plain-language actions tailored to the user.
[LAYMAN ANALOGY (EASY TO EXPLAIN)]
It is like a five-stage cleanroom: decontamination at the door, hazardous material scanning, identity verification, lab analysis, and issuing a certified safety badge.
[DEEP TECHNICAL BREAKDOWN]
Validated against RFC 1918, RFC 6598 (Carrier-Grade NAT), RFC 3986 (URI syntax), and Section 5 of the Master Architecture Specification.
[ANTICIPATED EVALUATOR Q&amp;A]
Q: What happens if the VirusTotal API key hits its rate quota?
A: The pipeline transitions seamlessly into local heuristic mode, logs "quota" under provider_status, and returns status: "inconclusive" or "suspicious" with an explicit note in the limitations array: "External AV intelligence was unavailable; based on local heuristics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6: INDIA TRUST SUITE: BUILT FOR 1.4 BILLION CITIZENS ===
[EXECUTIVE BOTTOM LINE]
First-class regional security solving real-world Indian cyber-crime scenarios with legal automation and accessible design.
[WORD-FOR-WORD PITCH SCRIPT (30-45 SECONDS)]
India’s UPI handles over 14 billion monthly transactions, making Indian citizens primary targets for financial fraud. We built the India Trust Suite specifically to address this reality. Our Emergency 1930 mode guides fraud victims through the critical "Golden Hour"—dialing the 1930 cyber helpline and generating legal dispute letters to freeze stolen funds. Our DPDP Act 2023 toolkit gives users 1-click legal notices for consent withdrawal. Our Elder Mode translates warnings into clear Hindi with high-contrast typography, and our K-anonymity checker lets users verify breaches without revealing their passwords.
[LAYMAN ANALOGY (EASY TO EXPLAIN)]
Emergency 1930 is like a digital ambulance equipped with pre-written legal splints and emergency hotlines to stop financial bleeding within minutes.
[DEEP TECHNICAL BREAKDOWN]
DPDP Act 2023 legal syntax, RBI circular compliance guidelines, K-Anonymity hash-prefixing, and bilingual React context state.
[ANTICIPATED EVALUATOR Q&amp;A]
Q: Why is the Golden Hour so crucial for Indian cyber fraud victims?
A: When UPI fraud occurs, money moves through multiple mule accounts within 2 to 3 hours. If reported via 1930 within the first 60 minutes, the Indian Cyber Crime Coordination Centre (I4C) can freeze the intermediate node accounts, recovering up to 85% of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7: CYBER ANALYTICS DASHBOARD: VISUAL DESIGN &amp; TELEMETRY ===
[EXECUTIVE BOTTOM LINE]
A production-grade cyber dashboard combining 60fps SVG data visualizations with real-time cached backend telemetry.
[WORD-FOR-WORD PITCH SCRIPT (30-45 SECONDS)]
To help security officers and users understand attack patterns at a glance, we designed our Cyber Analytics Dashboard. Built using our Deep Obsidian visual design system, it features four interactive KPI cards—including a glowing purple ring card for active growth and a radial arc gauge for retention. The main chart renders smooth dual cubic Bézier curves with interactive crosshairs and time-window filtering. Backed by /api/v1/dashboard/metrics, the entire dashboard responds in milliseconds with edge caching.
[LAYMAN ANALOGY (EASY TO EXPLAIN)]
It is the flight deck of a modern supersonic jet: every critical gauge is illuminated with high contrast, letting pilots spot anomalies instantaneously.
[DEEP TECHNICAL BREAKDOWN]
Custom SVG cubic Bézier smoothing, React state memoization, Cache-Control HTTP headers, and responsive CSS grid layouts.
[ANTICIPATED EVALUATOR Q&amp;A]
Q: Does the dashboard use external charting libraries that slow down load times?
A: No. All charts, sparklines, gauges, and curves are rendered using lightweight, native inline SVGs. This eliminates megabytes of JavaScript dependencies, ensuring 60fps animations and near-zero layout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8: DEEP-DIVE: MODULAR FORENSIC INSPECTION ENGINES ===
[EXECUTIVE BOTTOM LINE]
Four decoupled forensic engines covering every digital communication medium with specialized detection logic.
[WORD-FOR-WORD PITCH SCRIPT (30-45 SECONDS)]
Different attack vectors require distinct forensic methodologies. Our Message Inspector analyzes social engineering markers like artificial urgency and fake KYC demands, showing a live before-and-after PII redaction diff. Our URL Deep Inspector combines anti-SSRF protections, brand lookalike algorithms, and 70+ antivirus vendor checks. Our File Integrity engine hashes multi-megabyte files inside your browser using the Web Crypto API, meaning zero file upload is required. And our Claim Verifier debunks viral rumors using established fact-checking databases.
[LAYMAN ANALOGY (EASY TO EXPLAIN)]
A forensic lab does not test hair, blood, and handwriting with the same instrument. We provide specialized instruments for text, URLs, binaries, and claims.
[DEEP TECHNICAL BREAKDOWN]
Levenshtein distance matching, Web Crypto streaming ArrayBuffers, lexical urgency classifiers, and Zod API schema validation.
[ANTICIPATED EVALUATOR Q&amp;A]
Q: Can users check files without giving AI Protector access to their private documents?
A: Yes! The file is read locally by the browser using the HTML5 FileReader API and passed into crypto.subtle.digest(). Only the resulting 64-character SHA-256 string is checked against known threat databases. The file never leaves the user’s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9: SECURITY AUDIT REMEDIATION: PRODUCTION HARDENING ===
[EXECUTIVE BOTTOM LINE]
All red-team findings (AIM-001 through AIM-006) were systematically patched and validated with automated regression suites.
[WORD-FOR-WORD PITCH SCRIPT (30-45 SECONDS)]
A security platform that has not been red-teamed cannot be trusted. Following our Master Security Audit Directive, we conducted an adversarial audit and remediated six critical vulnerabilities: In AIM-001, we implemented strict HMAC-SHA256 signature checking. In AIM-002, we eliminated SSRF bypasses via hex and decimal encodings. In AIM-003, we locked down headers with CSP and HSTS. In AIM-004, we secured PII redaction. In AIM-005, we placed hard cryptographic boundaries around AI authority. And in AIM-006, we eliminated side-channel timing attacks with constant-time buffer comparisons.
[LAYMAN ANALOGY (EASY TO EXPLAIN)]
We didn’t just put a deadbolt on the front door; we reinforced the hinges, shuttered the windows, installed tamper alarms, and tested against expert lockpicks.
[DEEP TECHNICAL BREAKDOWN]
crypto.timingSafeEqual, RFC 3986 URI parsing, HSTS max-age=31536000, CSP directives, and HMAC-SHA256 token verification.
[ANTICIPATED EVALUATOR Q&amp;A]
Q: What is a side-channel timing attack and how does AIM-006 fix it?
A: Standard string comparisons (a === b) exit early on the first mismatched character, allowing attackers to measure microscopic microsecond differences to guess secret tokens byte-by-byte. AIM-006 uses crypto.timingSafeEqual, which always compares every byte regardless of match, taking constant time and making timing leaks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10: RIGOROUS TESTING &amp; PERFORMANCE VERIFICATION ===
[EXECUTIVE BOTTOM LINE]
105 out of 105 automated tests passing with zero failures, 11 verified live API routes, and sub-second startup performance.
[WORD-FOR-WORD PITCH SCRIPT (30-45 SECONDS)]
In cybersecurity engineering, claims mean nothing without empirical proof. AI Protector maintains 105 automated unit and regression tests running across 46 test suites, finishing in just 591 milliseconds with a 100% pass rate. We verified 11 live production API endpoints—confirming that Anti-SSRF blocks hex IPs, VirusTotal integration responds accurately, and PII redaction scrubs Indian identity numbers cleanly. With Next.js Turbopack, our application boots in 294 milliseconds across 25 production routes.
[LAYMAN ANALOGY (EASY TO EXPLAIN)]
Before a passenger plane takes off, it undergoes a 100-point avionics pre-flight checklist. We do the exact same thing on every code build.
[DEEP TECHNICAL BREAKDOWN]
Automated Playwright, Node test runner, Zod runtime schema assertions, and Next.js 16 build compiler diagnostics.
[ANTICIPATED EVALUATOR Q&amp;A]
Q: Do you use mock data for scan results in production?
A: Never. Per Master Build Rule #6, mocks live in test files only. Production routes run real deterministic heuristic engines, real DNS decoders, real Web Crypto hashing, and live VirusTotal v3 threat intel.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11: LIVE GLOBAL DEPLOYMENT ON VERCEL ===
[EXECUTIVE BOTTOM LINE]
Fully deployed and live globally on Vercel with public GitHub source code and instant accessibility.
[WORD-FOR-WORD PITCH SCRIPT (30-45 SECONDS)]
AI Protector is not just an idea or a Figma mockup; it is fully deployed and accessible worldwide right now at ai-protector.vercel.app. You can open the live Cyber Analytics Dashboard at /dashboard, explore this interactive presentation at /presentation, or download the master PowerPoint file directly. Furthermore, all code, test suites, and security audit documentation are committed to our GitHub repository at github.com/sanyamvij-lab/ai-agent-protector for full public auditability.
[LAYMAN ANALOGY (EASY TO EXPLAIN)]
We didn’t just bring blueprints to the meeting; we built the building, turned on the lights, unlocked the doors, and gave you the keys to test it yourself.
[DEEP TECHNICAL BREAKDOWN]
Vercel Edge Network, GitHub Actions CI, TLS 1.3, Next.js incremental static regeneration, and Git SHA commit tracking.
[ANTICIPATED EVALUATOR Q&amp;A]
Q: Can this infrastructure handle sudden spikes in user traffic?
A: Yes. By leveraging Next.js on Vercel serverless architecture with pre-rendered static components and edge-cached API routes, the platform scales horizontally on-demand without managing server instances or cold database bottlenecks.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SLIDE 12: FUTURE ROADMAP &amp; STRATEGIC VISION ===
[EXECUTIVE BOTTOM LINE]
A compelling four-phase expansion from consumer privacy into autonomous AI agent security and decentralized threat intelligence.
[WORD-FOR-WORD PITCH SCRIPT (30-45 SECONDS)]
Finally, let us look at our strategic horizon. In Phase 5, we introduce isolated Python scan workers executing YARA-X compiled rules for deep binary inspection. In Phase 6, we integrate OpenSSF Scorecard to audit software supply-chain integrity. In Phase 7, we pioneer Agent Component Check—providing the world’s first static analysis auditor for autonomous AI agents, tool manifests, and Model Context Protocol servers. And in Phase 8, we build a decentralized zero-knowledge threat feed allowing banks and cyber cells to share threat intelligence without compromising citizen privacy.
[LAYMAN ANALOGY (EASY TO EXPLAIN)]
We started by building the shield for individual citizens; now we are building the global radar defense grid for the coming age of autonomous AI agents.
[DEEP TECHNICAL BREAKDOWN]
YARA-X compilation, OpenSSF Scorecard REST integration, Model Context Protocol (MCP) schema validation, and Zero-Knowledge Proof (ZKP) architectures.
[ANTICIPATED EVALUATOR Q&amp;A]
Q: Why is Agent Component Check (Phase 7) so critical right now?
A: As autonomous AI agents like coding assistants and enterprise bots take actions, attackers are shifting from phishing humans to prompt-injecting agents via malicious tools and poisoned documentation. Phase 7 will audit agent tool permissions before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D"/>
        </a:solidFill>
      </p:bgPr>
    </p:bg>
    <p:spTree>
      <p:nvGrpSpPr>
        <p:cNvPr id="1" name=""/>
        <p:cNvGrpSpPr/>
        <p:nvPr/>
      </p:nvGrpSpPr>
      <p:grpSpPr>
        <a:xfrm>
          <a:off x="0" y="0"/>
          <a:ext cx="0" cy="0"/>
          <a:chOff x="0" y="0"/>
          <a:chExt cx="0" cy="0"/>
        </a:xfrm>
      </p:grpSpPr>
      <p:sp>
        <p:nvSpPr>
          <p:cNvPr id="3" name="Shape 0"/>
          <p:cNvSpPr/>
          <p:nvPr/>
        </p:nvSpPr>
        <p:spPr>
          <a:xfrm>
            <a:off x="731520" y="1097280"/>
            <a:ext cx="3840480" cy="365760"/>
          </a:xfrm>
          <a:prstGeom prst="roundRect">
            <a:avLst>
              <a:gd name="adj" fmla="val 50000"/>
            </a:avLst>
          </a:prstGeom>
          <a:solidFill>
            <a:srgbClr val="1A152E"/>
          </a:solidFill>
          <a:ln w="12700">
            <a:solidFill>
              <a:srgbClr val="8B5CF6"/>
            </a:solidFill>
            <a:prstDash val="solid"/>
          </a:ln>
        </p:spPr>
      </p:sp>
      <p:sp>
        <p:nvSpPr>
          <p:cNvPr id="4" name="Text 1"/>
          <p:cNvSpPr/>
          <p:nvPr/>
        </p:nvSpPr>
        <p:spPr>
          <a:xfrm>
            <a:off x="731520" y="1097280"/>
            <a:ext cx="3840480" cy="365760"/>
          </a:xfrm>
          <a:prstGeom prst="rect">
            <a:avLst/>
          </a:prstGeom>
          <a:noFill/>
          <a:ln/>
        </p:spPr>
        <p:txBody>
          <a:bodyPr wrap="square" rtlCol="0" anchor="ctr"/>
          <a:lstStyle/>
          <a:p>
            <a:pPr algn="ctr" indent="0" marL="0">
              <a:buNone/>
            </a:pPr>
            <a:r>
              <a:rPr lang="en-US" sz="950" b="1" dirty="0">
                <a:solidFill>
                  <a:srgbClr val="A78BFA"/>
                </a:solidFill>
                <a:latin typeface="Arial" pitchFamily="34" charset="0"/>
                <a:ea typeface="Arial" pitchFamily="34" charset="-122"/>
                <a:cs typeface="Arial" pitchFamily="34" charset="-120"/>
              </a:rPr>
              <a:t>ZERO-TRUST THREAT DEFENSE PLATFORM</a:t>
            </a:r>
            <a:endParaRPr lang="en-US" sz="950" dirty="0"/>
          </a:p>
        </p:txBody>
      </p:sp>
      <p:sp>
        <p:nvSpPr>
          <p:cNvPr id="5" name="Text 2"/>
          <p:cNvSpPr/>
          <p:nvPr/>
        </p:nvSpPr>
        <p:spPr>
          <a:xfrm>
            <a:off x="731520" y="1645920"/>
            <a:ext cx="10515600" cy="914400"/>
          </a:xfrm>
          <a:prstGeom prst="rect">
            <a:avLst/>
          </a:prstGeom>
          <a:noFill/>
          <a:ln/>
        </p:spPr>
        <p:txBody>
          <a:bodyPr wrap="square" rtlCol="0" anchor="ctr"/>
          <a:lstStyle/>
          <a:p>
            <a:pPr indent="0" marL="0">
              <a:buNone/>
            </a:pPr>
            <a:r>
              <a:rPr lang="en-US" sz="4400" b="1" dirty="0">
                <a:solidFill>
                  <a:srgbClr val="F5F5FA"/>
                </a:solidFill>
                <a:latin typeface="Arial" pitchFamily="34" charset="0"/>
                <a:ea typeface="Arial" pitchFamily="34" charset="-122"/>
                <a:cs typeface="Arial" pitchFamily="34" charset="-120"/>
              </a:rPr>
              <a:t>AI Protector</a:t>
            </a:r>
            <a:endParaRPr lang="en-US" sz="4400" dirty="0"/>
          </a:p>
        </p:txBody>
      </p:sp>
      <p:sp>
        <p:nvSpPr>
          <p:cNvPr id="6" name="Text 3"/>
          <p:cNvSpPr/>
          <p:nvPr/>
        </p:nvSpPr>
        <p:spPr>
          <a:xfrm>
            <a:off x="731520" y="2560320"/>
            <a:ext cx="10058400" cy="731520"/>
          </a:xfrm>
          <a:prstGeom prst="rect">
            <a:avLst/>
          </a:prstGeom>
          <a:noFill/>
          <a:ln/>
        </p:spPr>
        <p:txBody>
          <a:bodyPr wrap="square" rtlCol="0" anchor="ctr"/>
          <a:lstStyle/>
          <a:p>
            <a:pPr indent="0" marL="0">
              <a:buNone/>
            </a:pPr>
            <a:r>
              <a:rPr lang="en-US" sz="1700" dirty="0">
                <a:solidFill>
                  <a:srgbClr val="A78BFA"/>
                </a:solidFill>
                <a:latin typeface="Arial" pitchFamily="34" charset="0"/>
                <a:ea typeface="Arial" pitchFamily="34" charset="-122"/>
                <a:cs typeface="Arial" pitchFamily="34" charset="-120"/>
              </a:rPr>
              <a:t>Evidence-Based Warnings, Honestly Labelled. Private by Design. Trust by Intelligence.</a:t>
            </a:r>
            <a:endParaRPr lang="en-US" sz="1700" dirty="0"/>
          </a:p>
        </p:txBody>
      </p:sp>
      <p:sp>
        <p:nvSpPr>
          <p:cNvPr id="7" name="Text 4"/>
          <p:cNvSpPr/>
          <p:nvPr/>
        </p:nvSpPr>
        <p:spPr>
          <a:xfrm>
            <a:off x="731520" y="3383280"/>
            <a:ext cx="10515600" cy="1005840"/>
          </a:xfrm>
          <a:prstGeom prst="rect">
            <a:avLst/>
          </a:prstGeom>
          <a:noFill/>
          <a:ln/>
        </p:spPr>
        <p:txBody>
          <a:bodyPr wrap="square" rtlCol="0" anchor="ctr"/>
          <a:lstStyle/>
          <a:p>
            <a:pPr indent="0" marL="0">
              <a:lnSpc>
                <a:spcPts val="1800"/>
              </a:lnSpc>
              <a:buNone/>
            </a:pPr>
            <a:r>
              <a:rPr lang="en-US" sz="1200" dirty="0">
                <a:solidFill>
                  <a:srgbClr val="9295AA"/>
                </a:solidFill>
                <a:latin typeface="Arial" pitchFamily="34" charset="0"/>
                <a:ea typeface="Arial" pitchFamily="34" charset="-122"/>
                <a:cs typeface="Arial" pitchFamily="34" charset="-120"/>
              </a:rPr>
              <a:t>A defensive, privacy-first cybersecurity platform that empowers 1.4B+ citizens and developers to verify links, messages, files, numbers, and AI agent components BEFORE acting on them—with client-side PII scrubbing, zero server retention, and multi-engine consensus.</a:t>
            </a:r>
            <a:endParaRPr lang="en-US" sz="1200" dirty="0"/>
          </a:p>
        </p:txBody>
      </p:sp>
      <p:sp>
        <p:nvSpPr>
          <p:cNvPr id="8" name="Shape 5"/>
          <p:cNvSpPr/>
          <p:nvPr/>
        </p:nvSpPr>
        <p:spPr>
          <a:xfrm>
            <a:off x="731520" y="4663440"/>
            <a:ext cx="2514600" cy="1554480"/>
          </a:xfrm>
          <a:prstGeom prst="roundRect">
            <a:avLst>
              <a:gd name="adj" fmla="val 7059"/>
            </a:avLst>
          </a:prstGeom>
          <a:solidFill>
            <a:srgbClr val="10121E"/>
          </a:solidFill>
          <a:ln w="12700">
            <a:solidFill>
              <a:srgbClr val="2D2845"/>
            </a:solidFill>
            <a:prstDash val="solid"/>
          </a:ln>
        </p:spPr>
      </p:sp>
      <p:sp>
        <p:nvSpPr>
          <p:cNvPr id="9" name="Text 6"/>
          <p:cNvSpPr/>
          <p:nvPr/>
        </p:nvSpPr>
        <p:spPr>
          <a:xfrm>
            <a:off x="896112" y="4800600"/>
            <a:ext cx="2194560" cy="320040"/>
          </a:xfrm>
          <a:prstGeom prst="rect">
            <a:avLst/>
          </a:prstGeom>
          <a:noFill/>
          <a:ln/>
        </p:spPr>
        <p:txBody>
          <a:bodyPr wrap="square" rtlCol="0" anchor="ctr"/>
          <a:lstStyle/>
          <a:p>
            <a:pPr indent="0" marL="0">
              <a:buNone/>
            </a:pPr>
            <a:r>
              <a:rPr lang="en-US" sz="1100" b="1" dirty="0">
                <a:solidFill>
                  <a:srgbClr val="F5F5FA"/>
                </a:solidFill>
                <a:latin typeface="Arial" pitchFamily="34" charset="0"/>
                <a:ea typeface="Arial" pitchFamily="34" charset="-122"/>
                <a:cs typeface="Arial" pitchFamily="34" charset="-120"/>
              </a:rPr>
              <a:t>Anti-SSRF IP Shield</a:t>
            </a:r>
            <a:endParaRPr lang="en-US" sz="1100" dirty="0"/>
          </a:p>
        </p:txBody>
      </p:sp>
      <p:sp>
        <p:nvSpPr>
          <p:cNvPr id="10" name="Text 7"/>
          <p:cNvSpPr/>
          <p:nvPr/>
        </p:nvSpPr>
        <p:spPr>
          <a:xfrm>
            <a:off x="896112" y="5102352"/>
            <a:ext cx="2194560" cy="228600"/>
          </a:xfrm>
          <a:prstGeom prst="rect">
            <a:avLst/>
          </a:prstGeom>
          <a:noFill/>
          <a:ln/>
        </p:spPr>
        <p:txBody>
          <a:bodyPr wrap="square" rtlCol="0" anchor="ctr"/>
          <a:lstStyle/>
          <a:p>
            <a:pPr indent="0" marL="0">
              <a:buNone/>
            </a:pPr>
            <a:r>
              <a:rPr lang="en-US" sz="850" b="1" dirty="0">
                <a:solidFill>
                  <a:srgbClr val="A78BFA"/>
                </a:solidFill>
                <a:latin typeface="Arial" pitchFamily="34" charset="0"/>
                <a:ea typeface="Arial" pitchFamily="34" charset="-122"/>
                <a:cs typeface="Arial" pitchFamily="34" charset="-120"/>
              </a:rPr>
              <a:t>RFC 3986 &amp; Octal/Hex Filtering</a:t>
            </a:r>
            <a:endParaRPr lang="en-US" sz="850" dirty="0"/>
          </a:p>
        </p:txBody>
      </p:sp>
      <p:sp>
        <p:nvSpPr>
          <p:cNvPr id="11" name="Text 8"/>
          <p:cNvSpPr/>
          <p:nvPr/>
        </p:nvSpPr>
        <p:spPr>
          <a:xfrm>
            <a:off x="896112" y="5349240"/>
            <a:ext cx="2194560" cy="77724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Decodes obfuscated decimal, octal, and hex (0x7f) IP encodings. Enforces strict egress boundaries against private subnets, Carrier-Grade NAT, and AWS/GCP cloud metadata.</a:t>
            </a:r>
            <a:endParaRPr lang="en-US" sz="850" dirty="0"/>
          </a:p>
        </p:txBody>
      </p:sp>
      <p:sp>
        <p:nvSpPr>
          <p:cNvPr id="12" name="Shape 9"/>
          <p:cNvSpPr/>
          <p:nvPr/>
        </p:nvSpPr>
        <p:spPr>
          <a:xfrm>
            <a:off x="3401568" y="4663440"/>
            <a:ext cx="2514600" cy="1554480"/>
          </a:xfrm>
          <a:prstGeom prst="roundRect">
            <a:avLst>
              <a:gd name="adj" fmla="val 7059"/>
            </a:avLst>
          </a:prstGeom>
          <a:solidFill>
            <a:srgbClr val="10121E"/>
          </a:solidFill>
          <a:ln w="12700">
            <a:solidFill>
              <a:srgbClr val="2D2845"/>
            </a:solidFill>
            <a:prstDash val="solid"/>
          </a:ln>
        </p:spPr>
      </p:sp>
      <p:sp>
        <p:nvSpPr>
          <p:cNvPr id="13" name="Text 10"/>
          <p:cNvSpPr/>
          <p:nvPr/>
        </p:nvSpPr>
        <p:spPr>
          <a:xfrm>
            <a:off x="3566160" y="4800600"/>
            <a:ext cx="2194560" cy="320040"/>
          </a:xfrm>
          <a:prstGeom prst="rect">
            <a:avLst/>
          </a:prstGeom>
          <a:noFill/>
          <a:ln/>
        </p:spPr>
        <p:txBody>
          <a:bodyPr wrap="square" rtlCol="0" anchor="ctr"/>
          <a:lstStyle/>
          <a:p>
            <a:pPr indent="0" marL="0">
              <a:buNone/>
            </a:pPr>
            <a:r>
              <a:rPr lang="en-US" sz="1100" b="1" dirty="0">
                <a:solidFill>
                  <a:srgbClr val="F5F5FA"/>
                </a:solidFill>
                <a:latin typeface="Arial" pitchFamily="34" charset="0"/>
                <a:ea typeface="Arial" pitchFamily="34" charset="-122"/>
                <a:cs typeface="Arial" pitchFamily="34" charset="-120"/>
              </a:rPr>
              <a:t>DPDP 2023 Pre-Flight Redactor</a:t>
            </a:r>
            <a:endParaRPr lang="en-US" sz="1100" dirty="0"/>
          </a:p>
        </p:txBody>
      </p:sp>
      <p:sp>
        <p:nvSpPr>
          <p:cNvPr id="14" name="Text 11"/>
          <p:cNvSpPr/>
          <p:nvPr/>
        </p:nvSpPr>
        <p:spPr>
          <a:xfrm>
            <a:off x="3566160" y="5102352"/>
            <a:ext cx="2194560" cy="228600"/>
          </a:xfrm>
          <a:prstGeom prst="rect">
            <a:avLst/>
          </a:prstGeom>
          <a:noFill/>
          <a:ln/>
        </p:spPr>
        <p:txBody>
          <a:bodyPr wrap="square" rtlCol="0" anchor="ctr"/>
          <a:lstStyle/>
          <a:p>
            <a:pPr indent="0" marL="0">
              <a:buNone/>
            </a:pPr>
            <a:r>
              <a:rPr lang="en-US" sz="850" b="1" dirty="0">
                <a:solidFill>
                  <a:srgbClr val="A78BFA"/>
                </a:solidFill>
                <a:latin typeface="Arial" pitchFamily="34" charset="0"/>
                <a:ea typeface="Arial" pitchFamily="34" charset="-122"/>
                <a:cs typeface="Arial" pitchFamily="34" charset="-120"/>
              </a:rPr>
              <a:t>Client-Side Sanitization</a:t>
            </a:r>
            <a:endParaRPr lang="en-US" sz="850" dirty="0"/>
          </a:p>
        </p:txBody>
      </p:sp>
      <p:sp>
        <p:nvSpPr>
          <p:cNvPr id="15" name="Text 12"/>
          <p:cNvSpPr/>
          <p:nvPr/>
        </p:nvSpPr>
        <p:spPr>
          <a:xfrm>
            <a:off x="3566160" y="5349240"/>
            <a:ext cx="2194560" cy="77724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Aadhaar (12-digit UIDAI), PAN cards, UPI Virtual Payment Addresses, passwords, and phone numbers are scrubbed locally in the browser before any packet hits the wire.</a:t>
            </a:r>
            <a:endParaRPr lang="en-US" sz="850" dirty="0"/>
          </a:p>
        </p:txBody>
      </p:sp>
      <p:sp>
        <p:nvSpPr>
          <p:cNvPr id="16" name="Shape 13"/>
          <p:cNvSpPr/>
          <p:nvPr/>
        </p:nvSpPr>
        <p:spPr>
          <a:xfrm>
            <a:off x="6071616" y="4663440"/>
            <a:ext cx="2514600" cy="1554480"/>
          </a:xfrm>
          <a:prstGeom prst="roundRect">
            <a:avLst>
              <a:gd name="adj" fmla="val 7059"/>
            </a:avLst>
          </a:prstGeom>
          <a:solidFill>
            <a:srgbClr val="10121E"/>
          </a:solidFill>
          <a:ln w="12700">
            <a:solidFill>
              <a:srgbClr val="2D2845"/>
            </a:solidFill>
            <a:prstDash val="solid"/>
          </a:ln>
        </p:spPr>
      </p:sp>
      <p:sp>
        <p:nvSpPr>
          <p:cNvPr id="17" name="Text 14"/>
          <p:cNvSpPr/>
          <p:nvPr/>
        </p:nvSpPr>
        <p:spPr>
          <a:xfrm>
            <a:off x="6236208" y="4800600"/>
            <a:ext cx="2194560" cy="320040"/>
          </a:xfrm>
          <a:prstGeom prst="rect">
            <a:avLst/>
          </a:prstGeom>
          <a:noFill/>
          <a:ln/>
        </p:spPr>
        <p:txBody>
          <a:bodyPr wrap="square" rtlCol="0" anchor="ctr"/>
          <a:lstStyle/>
          <a:p>
            <a:pPr indent="0" marL="0">
              <a:buNone/>
            </a:pPr>
            <a:r>
              <a:rPr lang="en-US" sz="1100" b="1" dirty="0">
                <a:solidFill>
                  <a:srgbClr val="F5F5FA"/>
                </a:solidFill>
                <a:latin typeface="Arial" pitchFamily="34" charset="0"/>
                <a:ea typeface="Arial" pitchFamily="34" charset="-122"/>
                <a:cs typeface="Arial" pitchFamily="34" charset="-120"/>
              </a:rPr>
              <a:t>Multi-AV Threat Intel</a:t>
            </a:r>
            <a:endParaRPr lang="en-US" sz="1100" dirty="0"/>
          </a:p>
        </p:txBody>
      </p:sp>
      <p:sp>
        <p:nvSpPr>
          <p:cNvPr id="18" name="Text 15"/>
          <p:cNvSpPr/>
          <p:nvPr/>
        </p:nvSpPr>
        <p:spPr>
          <a:xfrm>
            <a:off x="6236208" y="5102352"/>
            <a:ext cx="2194560" cy="228600"/>
          </a:xfrm>
          <a:prstGeom prst="rect">
            <a:avLst/>
          </a:prstGeom>
          <a:noFill/>
          <a:ln/>
        </p:spPr>
        <p:txBody>
          <a:bodyPr wrap="square" rtlCol="0" anchor="ctr"/>
          <a:lstStyle/>
          <a:p>
            <a:pPr indent="0" marL="0">
              <a:buNone/>
            </a:pPr>
            <a:r>
              <a:rPr lang="en-US" sz="850" b="1" dirty="0">
                <a:solidFill>
                  <a:srgbClr val="A78BFA"/>
                </a:solidFill>
                <a:latin typeface="Arial" pitchFamily="34" charset="0"/>
                <a:ea typeface="Arial" pitchFamily="34" charset="-122"/>
                <a:cs typeface="Arial" pitchFamily="34" charset="-120"/>
              </a:rPr>
              <a:t>70+ Antivirus Engines</a:t>
            </a:r>
            <a:endParaRPr lang="en-US" sz="850" dirty="0"/>
          </a:p>
        </p:txBody>
      </p:sp>
      <p:sp>
        <p:nvSpPr>
          <p:cNvPr id="19" name="Text 16"/>
          <p:cNvSpPr/>
          <p:nvPr/>
        </p:nvSpPr>
        <p:spPr>
          <a:xfrm>
            <a:off x="6236208" y="5349240"/>
            <a:ext cx="2194560" cy="77724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Hybrid intelligence engine aggregating VirusTotal v3 public API consensus, deterministic local regex rules, and brand typosquatting distance metrics.</a:t>
            </a:r>
            <a:endParaRPr lang="en-US" sz="850" dirty="0"/>
          </a:p>
        </p:txBody>
      </p:sp>
      <p:sp>
        <p:nvSpPr>
          <p:cNvPr id="20" name="Shape 17"/>
          <p:cNvSpPr/>
          <p:nvPr/>
        </p:nvSpPr>
        <p:spPr>
          <a:xfrm>
            <a:off x="8741664" y="4663440"/>
            <a:ext cx="2514600" cy="1554480"/>
          </a:xfrm>
          <a:prstGeom prst="roundRect">
            <a:avLst>
              <a:gd name="adj" fmla="val 7059"/>
            </a:avLst>
          </a:prstGeom>
          <a:solidFill>
            <a:srgbClr val="10121E"/>
          </a:solidFill>
          <a:ln w="12700">
            <a:solidFill>
              <a:srgbClr val="2D2845"/>
            </a:solidFill>
            <a:prstDash val="solid"/>
          </a:ln>
        </p:spPr>
      </p:sp>
      <p:sp>
        <p:nvSpPr>
          <p:cNvPr id="21" name="Text 18"/>
          <p:cNvSpPr/>
          <p:nvPr/>
        </p:nvSpPr>
        <p:spPr>
          <a:xfrm>
            <a:off x="8906256" y="4800600"/>
            <a:ext cx="2194560" cy="320040"/>
          </a:xfrm>
          <a:prstGeom prst="rect">
            <a:avLst/>
          </a:prstGeom>
          <a:noFill/>
          <a:ln/>
        </p:spPr>
        <p:txBody>
          <a:bodyPr wrap="square" rtlCol="0" anchor="ctr"/>
          <a:lstStyle/>
          <a:p>
            <a:pPr indent="0" marL="0">
              <a:buNone/>
            </a:pPr>
            <a:r>
              <a:rPr lang="en-US" sz="1100" b="1" dirty="0">
                <a:solidFill>
                  <a:srgbClr val="F5F5FA"/>
                </a:solidFill>
                <a:latin typeface="Arial" pitchFamily="34" charset="0"/>
                <a:ea typeface="Arial" pitchFamily="34" charset="-122"/>
                <a:cs typeface="Arial" pitchFamily="34" charset="-120"/>
              </a:rPr>
              <a:t>Sub-300ms Turbopack Speed</a:t>
            </a:r>
            <a:endParaRPr lang="en-US" sz="1100" dirty="0"/>
          </a:p>
        </p:txBody>
      </p:sp>
      <p:sp>
        <p:nvSpPr>
          <p:cNvPr id="22" name="Text 19"/>
          <p:cNvSpPr/>
          <p:nvPr/>
        </p:nvSpPr>
        <p:spPr>
          <a:xfrm>
            <a:off x="8906256" y="5102352"/>
            <a:ext cx="2194560" cy="228600"/>
          </a:xfrm>
          <a:prstGeom prst="rect">
            <a:avLst/>
          </a:prstGeom>
          <a:noFill/>
          <a:ln/>
        </p:spPr>
        <p:txBody>
          <a:bodyPr wrap="square" rtlCol="0" anchor="ctr"/>
          <a:lstStyle/>
          <a:p>
            <a:pPr indent="0" marL="0">
              <a:buNone/>
            </a:pPr>
            <a:r>
              <a:rPr lang="en-US" sz="850" b="1" dirty="0">
                <a:solidFill>
                  <a:srgbClr val="A78BFA"/>
                </a:solidFill>
                <a:latin typeface="Arial" pitchFamily="34" charset="0"/>
                <a:ea typeface="Arial" pitchFamily="34" charset="-122"/>
                <a:cs typeface="Arial" pitchFamily="34" charset="-120"/>
              </a:rPr>
              <a:t>Next.js 16 App Router</a:t>
            </a:r>
            <a:endParaRPr lang="en-US" sz="850" dirty="0"/>
          </a:p>
        </p:txBody>
      </p:sp>
      <p:sp>
        <p:nvSpPr>
          <p:cNvPr id="23" name="Text 20"/>
          <p:cNvSpPr/>
          <p:nvPr/>
        </p:nvSpPr>
        <p:spPr>
          <a:xfrm>
            <a:off x="8906256" y="5349240"/>
            <a:ext cx="2194560" cy="77724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Optimized serverless architecture with pre-rendered layouts, dynamic streaming endpoints, and hardware-accelerated W3C Web Crypto in-browser hashing.</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THREAT LANDSCAPE &amp; PROBLEM</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The Crisis: Cyber Fraud &amp; Exploitation at Billions Scale</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3429000" cy="4800600"/>
          </a:xfrm>
          <a:prstGeom prst="roundRect">
            <a:avLst>
              <a:gd name="adj" fmla="val 4000"/>
            </a:avLst>
          </a:prstGeom>
          <a:solidFill>
            <a:srgbClr val="10121E"/>
          </a:solidFill>
          <a:ln w="15240">
            <a:solidFill>
              <a:srgbClr val="EF4444"/>
            </a:solidFill>
            <a:prstDash val="solid"/>
          </a:ln>
        </p:spPr>
      </p:sp>
      <p:sp>
        <p:nvSpPr>
          <p:cNvPr id="8" name="Text 5"/>
          <p:cNvSpPr/>
          <p:nvPr/>
        </p:nvSpPr>
        <p:spPr>
          <a:xfrm>
            <a:off x="960120" y="1737360"/>
            <a:ext cx="2971800" cy="274320"/>
          </a:xfrm>
          <a:prstGeom prst="rect">
            <a:avLst/>
          </a:prstGeom>
          <a:noFill/>
          <a:ln/>
        </p:spPr>
        <p:txBody>
          <a:bodyPr wrap="square" rtlCol="0" anchor="ctr"/>
          <a:lstStyle/>
          <a:p>
            <a:pPr indent="0" marL="0">
              <a:buNone/>
            </a:pPr>
            <a:r>
              <a:rPr lang="en-US" sz="950" b="1" dirty="0">
                <a:solidFill>
                  <a:srgbClr val="EF4444"/>
                </a:solidFill>
                <a:latin typeface="Arial" pitchFamily="34" charset="0"/>
                <a:ea typeface="Arial" pitchFamily="34" charset="-122"/>
                <a:cs typeface="Arial" pitchFamily="34" charset="-120"/>
              </a:rPr>
              <a:t>🚨  SOCIAL ENGINEERING</a:t>
            </a:r>
            <a:endParaRPr lang="en-US" sz="950" dirty="0"/>
          </a:p>
        </p:txBody>
      </p:sp>
      <p:sp>
        <p:nvSpPr>
          <p:cNvPr id="9" name="Text 6"/>
          <p:cNvSpPr/>
          <p:nvPr/>
        </p:nvSpPr>
        <p:spPr>
          <a:xfrm>
            <a:off x="960120" y="205740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Urgency &amp; Fear Smishing</a:t>
            </a:r>
            <a:endParaRPr lang="en-US" sz="1400" dirty="0"/>
          </a:p>
        </p:txBody>
      </p:sp>
      <p:sp>
        <p:nvSpPr>
          <p:cNvPr id="10" name="Text 7"/>
          <p:cNvSpPr/>
          <p:nvPr/>
        </p:nvSpPr>
        <p:spPr>
          <a:xfrm>
            <a:off x="960120" y="260604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KYC &amp; Electricity Scams</a:t>
            </a:r>
            <a:endParaRPr lang="en-US" sz="900" dirty="0"/>
          </a:p>
        </p:txBody>
      </p:sp>
      <p:sp>
        <p:nvSpPr>
          <p:cNvPr id="11" name="Text 8"/>
          <p:cNvSpPr/>
          <p:nvPr/>
        </p:nvSpPr>
        <p:spPr>
          <a:xfrm>
            <a:off x="960120" y="292608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Attackers send high-urgency SMS and WhatsApp alerts threatening immediate power shutoff or bank account freezing. Victims are coerced into calling malicious numbers or downloading screen-sharing APKs.</a:t>
            </a:r>
            <a:endParaRPr lang="en-US" sz="950" dirty="0"/>
          </a:p>
        </p:txBody>
      </p:sp>
      <p:sp>
        <p:nvSpPr>
          <p:cNvPr id="12" name="Text 9"/>
          <p:cNvSpPr/>
          <p:nvPr/>
        </p:nvSpPr>
        <p:spPr>
          <a:xfrm>
            <a:off x="960120" y="448056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MITRE ATT&amp;CK T1566.002 (Spearphishing Link)</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Urgency scoring algorithms</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Fraudulent helpline detection</a:t>
            </a:r>
            <a:endParaRPr lang="en-US" sz="850" dirty="0"/>
          </a:p>
        </p:txBody>
      </p:sp>
      <p:sp>
        <p:nvSpPr>
          <p:cNvPr id="13" name="Shape 10"/>
          <p:cNvSpPr/>
          <p:nvPr/>
        </p:nvSpPr>
        <p:spPr>
          <a:xfrm>
            <a:off x="4343400" y="1508760"/>
            <a:ext cx="3429000" cy="4800600"/>
          </a:xfrm>
          <a:prstGeom prst="roundRect">
            <a:avLst>
              <a:gd name="adj" fmla="val 4000"/>
            </a:avLst>
          </a:prstGeom>
          <a:solidFill>
            <a:srgbClr val="10121E"/>
          </a:solidFill>
          <a:ln w="15240">
            <a:solidFill>
              <a:srgbClr val="F59E0B"/>
            </a:solidFill>
            <a:prstDash val="solid"/>
          </a:ln>
        </p:spPr>
      </p:sp>
      <p:sp>
        <p:nvSpPr>
          <p:cNvPr id="14" name="Text 11"/>
          <p:cNvSpPr/>
          <p:nvPr/>
        </p:nvSpPr>
        <p:spPr>
          <a:xfrm>
            <a:off x="4572000" y="1737360"/>
            <a:ext cx="2971800" cy="27432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  NETWORK EXPLOITATION</a:t>
            </a:r>
            <a:endParaRPr lang="en-US" sz="950" dirty="0"/>
          </a:p>
        </p:txBody>
      </p:sp>
      <p:sp>
        <p:nvSpPr>
          <p:cNvPr id="15" name="Text 12"/>
          <p:cNvSpPr/>
          <p:nvPr/>
        </p:nvSpPr>
        <p:spPr>
          <a:xfrm>
            <a:off x="4572000" y="205740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Infrastructure &amp; SSRF Exploits</a:t>
            </a:r>
            <a:endParaRPr lang="en-US" sz="1400" dirty="0"/>
          </a:p>
        </p:txBody>
      </p:sp>
      <p:sp>
        <p:nvSpPr>
          <p:cNvPr id="16" name="Text 13"/>
          <p:cNvSpPr/>
          <p:nvPr/>
        </p:nvSpPr>
        <p:spPr>
          <a:xfrm>
            <a:off x="4572000" y="260604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Obfuscated Encodings &amp; Cloud Metadata</a:t>
            </a:r>
            <a:endParaRPr lang="en-US" sz="900" dirty="0"/>
          </a:p>
        </p:txBody>
      </p:sp>
      <p:sp>
        <p:nvSpPr>
          <p:cNvPr id="17" name="Text 14"/>
          <p:cNvSpPr/>
          <p:nvPr/>
        </p:nvSpPr>
        <p:spPr>
          <a:xfrm>
            <a:off x="4572000" y="292608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Attackers bypass naive URL filters using hex IP representations (0x7f.0.0.1), octal notations, decimal IP representations, and IPv4-mapped IPv6 formats to access cloud metadata instances.</a:t>
            </a:r>
            <a:endParaRPr lang="en-US" sz="950" dirty="0"/>
          </a:p>
        </p:txBody>
      </p:sp>
      <p:sp>
        <p:nvSpPr>
          <p:cNvPr id="18" name="Text 15"/>
          <p:cNvSpPr/>
          <p:nvPr/>
        </p:nvSpPr>
        <p:spPr>
          <a:xfrm>
            <a:off x="4572000" y="448056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Bypasses standard url.parse()</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Targets 169.254.169.254 (IMDSv1)</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Carrier-Grade NAT 100.64.0.0/10 bypasses</a:t>
            </a:r>
            <a:endParaRPr lang="en-US" sz="850" dirty="0"/>
          </a:p>
        </p:txBody>
      </p:sp>
      <p:sp>
        <p:nvSpPr>
          <p:cNvPr id="19" name="Shape 16"/>
          <p:cNvSpPr/>
          <p:nvPr/>
        </p:nvSpPr>
        <p:spPr>
          <a:xfrm>
            <a:off x="7955280" y="1508760"/>
            <a:ext cx="3429000" cy="4800600"/>
          </a:xfrm>
          <a:prstGeom prst="roundRect">
            <a:avLst>
              <a:gd name="adj" fmla="val 4000"/>
            </a:avLst>
          </a:prstGeom>
          <a:solidFill>
            <a:srgbClr val="10121E"/>
          </a:solidFill>
          <a:ln w="15240">
            <a:solidFill>
              <a:srgbClr val="8B5CF6"/>
            </a:solidFill>
            <a:prstDash val="solid"/>
          </a:ln>
        </p:spPr>
      </p:sp>
      <p:sp>
        <p:nvSpPr>
          <p:cNvPr id="20" name="Text 17"/>
          <p:cNvSpPr/>
          <p:nvPr/>
        </p:nvSpPr>
        <p:spPr>
          <a:xfrm>
            <a:off x="8183880" y="1737360"/>
            <a:ext cx="2971800" cy="274320"/>
          </a:xfrm>
          <a:prstGeom prst="rect">
            <a:avLst/>
          </a:prstGeom>
          <a:noFill/>
          <a:ln/>
        </p:spPr>
        <p:txBody>
          <a:bodyPr wrap="square" rtlCol="0" anchor="ctr"/>
          <a:lstStyle/>
          <a:p>
            <a:pPr indent="0" marL="0">
              <a:buNone/>
            </a:pPr>
            <a:r>
              <a:rPr lang="en-US" sz="950" b="1" dirty="0">
                <a:solidFill>
                  <a:srgbClr val="8B5CF6"/>
                </a:solidFill>
                <a:latin typeface="Arial" pitchFamily="34" charset="0"/>
                <a:ea typeface="Arial" pitchFamily="34" charset="-122"/>
                <a:cs typeface="Arial" pitchFamily="34" charset="-120"/>
              </a:rPr>
              <a:t>👁️  SURVEILLANCE RISK</a:t>
            </a:r>
            <a:endParaRPr lang="en-US" sz="950" dirty="0"/>
          </a:p>
        </p:txBody>
      </p:sp>
      <p:sp>
        <p:nvSpPr>
          <p:cNvPr id="21" name="Text 18"/>
          <p:cNvSpPr/>
          <p:nvPr/>
        </p:nvSpPr>
        <p:spPr>
          <a:xfrm>
            <a:off x="8183880" y="205740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Antivirus Privacy Invasion</a:t>
            </a:r>
            <a:endParaRPr lang="en-US" sz="1400" dirty="0"/>
          </a:p>
        </p:txBody>
      </p:sp>
      <p:sp>
        <p:nvSpPr>
          <p:cNvPr id="22" name="Text 19"/>
          <p:cNvSpPr/>
          <p:nvPr/>
        </p:nvSpPr>
        <p:spPr>
          <a:xfrm>
            <a:off x="8183880" y="260604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Surveillance as Security</a:t>
            </a:r>
            <a:endParaRPr lang="en-US" sz="900" dirty="0"/>
          </a:p>
        </p:txBody>
      </p:sp>
      <p:sp>
        <p:nvSpPr>
          <p:cNvPr id="23" name="Text 20"/>
          <p:cNvSpPr/>
          <p:nvPr/>
        </p:nvSpPr>
        <p:spPr>
          <a:xfrm>
            <a:off x="8183880" y="292608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Legacy antivirus and browser extensions monitor, log, and sell user browsing trails, raw SMS histories, and file contents to third-party data brokers under the guise of cloud telemetry.</a:t>
            </a:r>
            <a:endParaRPr lang="en-US" sz="950" dirty="0"/>
          </a:p>
        </p:txBody>
      </p:sp>
      <p:sp>
        <p:nvSpPr>
          <p:cNvPr id="24" name="Text 21"/>
          <p:cNvSpPr/>
          <p:nvPr/>
        </p:nvSpPr>
        <p:spPr>
          <a:xfrm>
            <a:off x="8183880" y="448056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Full URL and query param telemetry</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Unredacted cloud synchronization</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Single point of failure for data breaches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ZERO-TRUST ARCHITECTURE</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Core Principles &amp; Non-Negotiable Invariants</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52578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48920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DATA MINIMIZATION</a:t>
            </a:r>
            <a:endParaRPr lang="en-US" sz="850" dirty="0"/>
          </a:p>
        </p:txBody>
      </p:sp>
      <p:sp>
        <p:nvSpPr>
          <p:cNvPr id="9" name="Text 6"/>
          <p:cNvSpPr/>
          <p:nvPr/>
        </p:nvSpPr>
        <p:spPr>
          <a:xfrm>
            <a:off x="91440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Zero Server-Side Retention</a:t>
            </a:r>
            <a:endParaRPr lang="en-US" sz="1200" dirty="0"/>
          </a:p>
        </p:txBody>
      </p:sp>
      <p:sp>
        <p:nvSpPr>
          <p:cNvPr id="10" name="Text 7"/>
          <p:cNvSpPr/>
          <p:nvPr/>
        </p:nvSpPr>
        <p:spPr>
          <a:xfrm>
            <a:off x="91440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No raw messages, uploaded files, or complete URLs are ever persisted in databases or server logs. URLs are stripped of sensitive query parameters and logged strictly as Host + SHA-256 hash.</a:t>
            </a:r>
            <a:endParaRPr lang="en-US" sz="900" dirty="0"/>
          </a:p>
        </p:txBody>
      </p:sp>
      <p:sp>
        <p:nvSpPr>
          <p:cNvPr id="11" name="Shape 8"/>
          <p:cNvSpPr/>
          <p:nvPr/>
        </p:nvSpPr>
        <p:spPr>
          <a:xfrm>
            <a:off x="6172200" y="1508760"/>
            <a:ext cx="52578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6355080" y="1645920"/>
            <a:ext cx="48920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EDGE SANITIZATION</a:t>
            </a:r>
            <a:endParaRPr lang="en-US" sz="850" dirty="0"/>
          </a:p>
        </p:txBody>
      </p:sp>
      <p:sp>
        <p:nvSpPr>
          <p:cNvPr id="13" name="Text 10"/>
          <p:cNvSpPr/>
          <p:nvPr/>
        </p:nvSpPr>
        <p:spPr>
          <a:xfrm>
            <a:off x="635508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Pre-Flight Client Redaction</a:t>
            </a:r>
            <a:endParaRPr lang="en-US" sz="1200" dirty="0"/>
          </a:p>
        </p:txBody>
      </p:sp>
      <p:sp>
        <p:nvSpPr>
          <p:cNvPr id="14" name="Text 11"/>
          <p:cNvSpPr/>
          <p:nvPr/>
        </p:nvSpPr>
        <p:spPr>
          <a:xfrm>
            <a:off x="635508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Sensitive Indian identification numbers (Aadhaar 12-digit, PAN 10-char alphanumeric, UPI IDs) and credentials are obfuscated client-side before network dispatch.</a:t>
            </a:r>
            <a:endParaRPr lang="en-US" sz="900" dirty="0"/>
          </a:p>
        </p:txBody>
      </p:sp>
      <p:sp>
        <p:nvSpPr>
          <p:cNvPr id="15" name="Shape 12"/>
          <p:cNvSpPr/>
          <p:nvPr/>
        </p:nvSpPr>
        <p:spPr>
          <a:xfrm>
            <a:off x="731520" y="4000500"/>
            <a:ext cx="52578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914400" y="4137660"/>
            <a:ext cx="48920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TRANSPARENT DEFENSE</a:t>
            </a:r>
            <a:endParaRPr lang="en-US" sz="850" dirty="0"/>
          </a:p>
        </p:txBody>
      </p:sp>
      <p:sp>
        <p:nvSpPr>
          <p:cNvPr id="17" name="Text 14"/>
          <p:cNvSpPr/>
          <p:nvPr/>
        </p:nvSpPr>
        <p:spPr>
          <a:xfrm>
            <a:off x="91440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Honest Status &amp; Fail-Closed</a:t>
            </a:r>
            <a:endParaRPr lang="en-US" sz="1200" dirty="0"/>
          </a:p>
        </p:txBody>
      </p:sp>
      <p:sp>
        <p:nvSpPr>
          <p:cNvPr id="18" name="Text 15"/>
          <p:cNvSpPr/>
          <p:nvPr/>
        </p:nvSpPr>
        <p:spPr>
          <a:xfrm>
            <a:off x="91440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We never return a silent "safe" verdict. If third-party APIs fail or time out, the system explicitly returns "unavailable" or "inconclusive" with documented limitations.</a:t>
            </a:r>
            <a:endParaRPr lang="en-US" sz="900" dirty="0"/>
          </a:p>
        </p:txBody>
      </p:sp>
      <p:sp>
        <p:nvSpPr>
          <p:cNvPr id="19" name="Shape 16"/>
          <p:cNvSpPr/>
          <p:nvPr/>
        </p:nvSpPr>
        <p:spPr>
          <a:xfrm>
            <a:off x="6172200" y="4000500"/>
            <a:ext cx="52578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6355080" y="4137660"/>
            <a:ext cx="4892040" cy="228600"/>
          </a:xfrm>
          <a:prstGeom prst="rect">
            <a:avLst/>
          </a:prstGeom>
          <a:noFill/>
          <a:ln/>
        </p:spPr>
        <p:txBody>
          <a:bodyPr wrap="square" rtlCol="0" anchor="ctr"/>
          <a:lstStyle/>
          <a:p>
            <a:pPr indent="0" marL="0">
              <a:buNone/>
            </a:pPr>
            <a:r>
              <a:rPr lang="en-US" sz="850" b="1" dirty="0">
                <a:solidFill>
                  <a:srgbClr val="EF4444"/>
                </a:solidFill>
                <a:latin typeface="Arial" pitchFamily="34" charset="0"/>
                <a:ea typeface="Arial" pitchFamily="34" charset="-122"/>
                <a:cs typeface="Arial" pitchFamily="34" charset="-120"/>
              </a:rPr>
              <a:t>⚖️  MATHEMATICAL CERTAINTY</a:t>
            </a:r>
            <a:endParaRPr lang="en-US" sz="850" dirty="0"/>
          </a:p>
        </p:txBody>
      </p:sp>
      <p:sp>
        <p:nvSpPr>
          <p:cNvPr id="21" name="Text 18"/>
          <p:cNvSpPr/>
          <p:nvPr/>
        </p:nvSpPr>
        <p:spPr>
          <a:xfrm>
            <a:off x="635508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Deterministic Authority Rule</a:t>
            </a:r>
            <a:endParaRPr lang="en-US" sz="1200" dirty="0"/>
          </a:p>
        </p:txBody>
      </p:sp>
      <p:sp>
        <p:nvSpPr>
          <p:cNvPr id="22" name="Text 19"/>
          <p:cNvSpPr/>
          <p:nvPr/>
        </p:nvSpPr>
        <p:spPr>
          <a:xfrm>
            <a:off x="635508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AI neural models provide plain-language explanations, but they are strictly forbidden from lowering or overturning a high-risk status determined by heuristic or signature engines.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ENGINEERING ARCHITECTURE</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The Complete Modern Tech Stack</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3429000" cy="4800600"/>
          </a:xfrm>
          <a:prstGeom prst="roundRect">
            <a:avLst>
              <a:gd name="adj" fmla="val 4000"/>
            </a:avLst>
          </a:prstGeom>
          <a:solidFill>
            <a:srgbClr val="10121E"/>
          </a:solidFill>
          <a:ln w="15240">
            <a:solidFill>
              <a:srgbClr val="6366F1"/>
            </a:solidFill>
            <a:prstDash val="solid"/>
          </a:ln>
        </p:spPr>
      </p:sp>
      <p:sp>
        <p:nvSpPr>
          <p:cNvPr id="8" name="Text 5"/>
          <p:cNvSpPr/>
          <p:nvPr/>
        </p:nvSpPr>
        <p:spPr>
          <a:xfrm>
            <a:off x="960120" y="1737360"/>
            <a:ext cx="2971800" cy="274320"/>
          </a:xfrm>
          <a:prstGeom prst="rect">
            <a:avLst/>
          </a:prstGeom>
          <a:noFill/>
          <a:ln/>
        </p:spPr>
        <p:txBody>
          <a:bodyPr wrap="square" rtlCol="0" anchor="ctr"/>
          <a:lstStyle/>
          <a:p>
            <a:pPr indent="0" marL="0">
              <a:buNone/>
            </a:pPr>
            <a:r>
              <a:rPr lang="en-US" sz="950" b="1" dirty="0">
                <a:solidFill>
                  <a:srgbClr val="6366F1"/>
                </a:solidFill>
                <a:latin typeface="Arial" pitchFamily="34" charset="0"/>
                <a:ea typeface="Arial" pitchFamily="34" charset="-122"/>
                <a:cs typeface="Arial" pitchFamily="34" charset="-120"/>
              </a:rPr>
              <a:t>⚡  UI &amp; RUNTIME</a:t>
            </a:r>
            <a:endParaRPr lang="en-US" sz="950" dirty="0"/>
          </a:p>
        </p:txBody>
      </p:sp>
      <p:sp>
        <p:nvSpPr>
          <p:cNvPr id="9" name="Text 6"/>
          <p:cNvSpPr/>
          <p:nvPr/>
        </p:nvSpPr>
        <p:spPr>
          <a:xfrm>
            <a:off x="960120" y="205740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Frontend &amp; UI Framework</a:t>
            </a:r>
            <a:endParaRPr lang="en-US" sz="1400" dirty="0"/>
          </a:p>
        </p:txBody>
      </p:sp>
      <p:sp>
        <p:nvSpPr>
          <p:cNvPr id="10" name="Text 7"/>
          <p:cNvSpPr/>
          <p:nvPr/>
        </p:nvSpPr>
        <p:spPr>
          <a:xfrm>
            <a:off x="960120" y="260604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Next.js 16.4.2 Turbopack + React 19</a:t>
            </a:r>
            <a:endParaRPr lang="en-US" sz="900" dirty="0"/>
          </a:p>
        </p:txBody>
      </p:sp>
      <p:sp>
        <p:nvSpPr>
          <p:cNvPr id="11" name="Text 8"/>
          <p:cNvSpPr/>
          <p:nvPr/>
        </p:nvSpPr>
        <p:spPr>
          <a:xfrm>
            <a:off x="960120" y="292608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App Router architecture with zero client-bundle bloat for static views, instant SSR pre-rendering, TypeScript strict typing, and Tailwind CSS v4 design tokens.</a:t>
            </a:r>
            <a:endParaRPr lang="en-US" sz="950" dirty="0"/>
          </a:p>
        </p:txBody>
      </p:sp>
      <p:sp>
        <p:nvSpPr>
          <p:cNvPr id="12" name="Text 9"/>
          <p:cNvSpPr/>
          <p:nvPr/>
        </p:nvSpPr>
        <p:spPr>
          <a:xfrm>
            <a:off x="960120" y="448056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Turbopack sub-300ms server boot</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React 19 Server Components</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Tailwind CSS v4 with Obsidian (#07080D) palette</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Responsive WCAG 2.2 AA accessible</a:t>
            </a:r>
            <a:endParaRPr lang="en-US" sz="850" dirty="0"/>
          </a:p>
        </p:txBody>
      </p:sp>
      <p:sp>
        <p:nvSpPr>
          <p:cNvPr id="13" name="Shape 10"/>
          <p:cNvSpPr/>
          <p:nvPr/>
        </p:nvSpPr>
        <p:spPr>
          <a:xfrm>
            <a:off x="4343400" y="1508760"/>
            <a:ext cx="3429000" cy="4800600"/>
          </a:xfrm>
          <a:prstGeom prst="roundRect">
            <a:avLst>
              <a:gd name="adj" fmla="val 4000"/>
            </a:avLst>
          </a:prstGeom>
          <a:solidFill>
            <a:srgbClr val="10121E"/>
          </a:solidFill>
          <a:ln w="15240">
            <a:solidFill>
              <a:srgbClr val="8B5CF6"/>
            </a:solidFill>
            <a:prstDash val="solid"/>
          </a:ln>
        </p:spPr>
      </p:sp>
      <p:sp>
        <p:nvSpPr>
          <p:cNvPr id="14" name="Text 11"/>
          <p:cNvSpPr/>
          <p:nvPr/>
        </p:nvSpPr>
        <p:spPr>
          <a:xfrm>
            <a:off x="4572000" y="1737360"/>
            <a:ext cx="2971800" cy="274320"/>
          </a:xfrm>
          <a:prstGeom prst="rect">
            <a:avLst/>
          </a:prstGeom>
          <a:noFill/>
          <a:ln/>
        </p:spPr>
        <p:txBody>
          <a:bodyPr wrap="square" rtlCol="0" anchor="ctr"/>
          <a:lstStyle/>
          <a:p>
            <a:pPr indent="0" marL="0">
              <a:buNone/>
            </a:pPr>
            <a:r>
              <a:rPr lang="en-US" sz="950" b="1" dirty="0">
                <a:solidFill>
                  <a:srgbClr val="8B5CF6"/>
                </a:solidFill>
                <a:latin typeface="Arial" pitchFamily="34" charset="0"/>
                <a:ea typeface="Arial" pitchFamily="34" charset="-122"/>
                <a:cs typeface="Arial" pitchFamily="34" charset="-120"/>
              </a:rPr>
              <a:t>🛡️  DEFENSE CORE</a:t>
            </a:r>
            <a:endParaRPr lang="en-US" sz="950" dirty="0"/>
          </a:p>
        </p:txBody>
      </p:sp>
      <p:sp>
        <p:nvSpPr>
          <p:cNvPr id="15" name="Text 12"/>
          <p:cNvSpPr/>
          <p:nvPr/>
        </p:nvSpPr>
        <p:spPr>
          <a:xfrm>
            <a:off x="4572000" y="205740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Forensic Engines &amp; APIs</a:t>
            </a:r>
            <a:endParaRPr lang="en-US" sz="1400" dirty="0"/>
          </a:p>
        </p:txBody>
      </p:sp>
      <p:sp>
        <p:nvSpPr>
          <p:cNvPr id="16" name="Text 13"/>
          <p:cNvSpPr/>
          <p:nvPr/>
        </p:nvSpPr>
        <p:spPr>
          <a:xfrm>
            <a:off x="4572000" y="260604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Multi-AV &amp; Gemini 3.5 Flash</a:t>
            </a:r>
            <a:endParaRPr lang="en-US" sz="900" dirty="0"/>
          </a:p>
        </p:txBody>
      </p:sp>
      <p:sp>
        <p:nvSpPr>
          <p:cNvPr id="17" name="Text 14"/>
          <p:cNvSpPr/>
          <p:nvPr/>
        </p:nvSpPr>
        <p:spPr>
          <a:xfrm>
            <a:off x="4572000" y="292608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Modular scanning pipeline integrating custom Anti-SSRF DNS engines, VirusTotal Threat Intel v3 (70+ global AV engines), and Google Gemini 3.5 Flash for natural explanations.</a:t>
            </a:r>
            <a:endParaRPr lang="en-US" sz="950" dirty="0"/>
          </a:p>
        </p:txBody>
      </p:sp>
      <p:sp>
        <p:nvSpPr>
          <p:cNvPr id="18" name="Text 15"/>
          <p:cNvSpPr/>
          <p:nvPr/>
        </p:nvSpPr>
        <p:spPr>
          <a:xfrm>
            <a:off x="4572000" y="448056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Anti-SSRF IP verification engine</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VirusTotal v3 REST API integration</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Gemini 3.5 Flash with PII-redacted prompt templates</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Sub-400ms cached API gateway routes</a:t>
            </a:r>
            <a:endParaRPr lang="en-US" sz="850" dirty="0"/>
          </a:p>
        </p:txBody>
      </p:sp>
      <p:sp>
        <p:nvSpPr>
          <p:cNvPr id="19" name="Shape 16"/>
          <p:cNvSpPr/>
          <p:nvPr/>
        </p:nvSpPr>
        <p:spPr>
          <a:xfrm>
            <a:off x="7955280" y="1508760"/>
            <a:ext cx="3429000" cy="4800600"/>
          </a:xfrm>
          <a:prstGeom prst="roundRect">
            <a:avLst>
              <a:gd name="adj" fmla="val 4000"/>
            </a:avLst>
          </a:prstGeom>
          <a:solidFill>
            <a:srgbClr val="10121E"/>
          </a:solidFill>
          <a:ln w="15240">
            <a:solidFill>
              <a:srgbClr val="10B981"/>
            </a:solidFill>
            <a:prstDash val="solid"/>
          </a:ln>
        </p:spPr>
      </p:sp>
      <p:sp>
        <p:nvSpPr>
          <p:cNvPr id="20" name="Text 17"/>
          <p:cNvSpPr/>
          <p:nvPr/>
        </p:nvSpPr>
        <p:spPr>
          <a:xfrm>
            <a:off x="8183880" y="1737360"/>
            <a:ext cx="2971800" cy="27432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  LOCAL CRYPTO</a:t>
            </a:r>
            <a:endParaRPr lang="en-US" sz="950" dirty="0"/>
          </a:p>
        </p:txBody>
      </p:sp>
      <p:sp>
        <p:nvSpPr>
          <p:cNvPr id="21" name="Text 18"/>
          <p:cNvSpPr/>
          <p:nvPr/>
        </p:nvSpPr>
        <p:spPr>
          <a:xfrm>
            <a:off x="8183880" y="205740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Cryptography &amp; Browser Extension</a:t>
            </a:r>
            <a:endParaRPr lang="en-US" sz="1400" dirty="0"/>
          </a:p>
        </p:txBody>
      </p:sp>
      <p:sp>
        <p:nvSpPr>
          <p:cNvPr id="22" name="Text 19"/>
          <p:cNvSpPr/>
          <p:nvPr/>
        </p:nvSpPr>
        <p:spPr>
          <a:xfrm>
            <a:off x="8183880" y="260604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W3C Web Crypto &amp; Manifest V3</a:t>
            </a:r>
            <a:endParaRPr lang="en-US" sz="900" dirty="0"/>
          </a:p>
        </p:txBody>
      </p:sp>
      <p:sp>
        <p:nvSpPr>
          <p:cNvPr id="23" name="Text 20"/>
          <p:cNvSpPr/>
          <p:nvPr/>
        </p:nvSpPr>
        <p:spPr>
          <a:xfrm>
            <a:off x="8183880" y="292608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Local file verification computes SHA-256 and SHA-512 in browser hardware without uploading files. Manifest V3 Chromium/Firefox extension inspects tabs with zero history storage.</a:t>
            </a:r>
            <a:endParaRPr lang="en-US" sz="950" dirty="0"/>
          </a:p>
        </p:txBody>
      </p:sp>
      <p:sp>
        <p:nvSpPr>
          <p:cNvPr id="24" name="Text 21"/>
          <p:cNvSpPr/>
          <p:nvPr/>
        </p:nvSpPr>
        <p:spPr>
          <a:xfrm>
            <a:off x="8183880" y="448056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W3C Web Crypto crypto.subtle.digest()</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Node crypto.timingSafeEqual for timing-leak immunity</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Chrome Manifest V3 declarativeNetRequest &amp; Service Workers</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Zero-cookie, zero-session tracker architecture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FORENSIC WORKFLOW</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End-to-End Threat Inspection Lifecycle</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2057400" cy="4800600"/>
          </a:xfrm>
          <a:prstGeom prst="roundRect">
            <a:avLst>
              <a:gd name="adj" fmla="val 5333"/>
            </a:avLst>
          </a:prstGeom>
          <a:solidFill>
            <a:srgbClr val="10121E"/>
          </a:solidFill>
          <a:ln w="15240">
            <a:solidFill>
              <a:srgbClr val="2D2845"/>
            </a:solidFill>
            <a:prstDash val="solid"/>
          </a:ln>
        </p:spPr>
      </p:sp>
      <p:sp>
        <p:nvSpPr>
          <p:cNvPr id="8" name="Text 5"/>
          <p:cNvSpPr/>
          <p:nvPr/>
        </p:nvSpPr>
        <p:spPr>
          <a:xfrm>
            <a:off x="868680" y="1691640"/>
            <a:ext cx="1783080" cy="22860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INGEST</a:t>
            </a:r>
            <a:endParaRPr lang="en-US" sz="900" dirty="0"/>
          </a:p>
        </p:txBody>
      </p:sp>
      <p:sp>
        <p:nvSpPr>
          <p:cNvPr id="9" name="Text 6"/>
          <p:cNvSpPr/>
          <p:nvPr/>
        </p:nvSpPr>
        <p:spPr>
          <a:xfrm>
            <a:off x="868680" y="1965960"/>
            <a:ext cx="1783080" cy="502920"/>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1. Ingestion Boundary</a:t>
            </a:r>
            <a:endParaRPr lang="en-US" sz="1200" dirty="0"/>
          </a:p>
        </p:txBody>
      </p:sp>
      <p:sp>
        <p:nvSpPr>
          <p:cNvPr id="10" name="Text 7"/>
          <p:cNvSpPr/>
          <p:nvPr/>
        </p:nvSpPr>
        <p:spPr>
          <a:xfrm>
            <a:off x="868680" y="2514600"/>
            <a:ext cx="1783080" cy="210312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Accepts URLs, SMS snippets, phone numbers, or file drops. Evaluates input type and validates input length (max 10,000 characters).</a:t>
            </a:r>
            <a:endParaRPr lang="en-US" sz="850" dirty="0"/>
          </a:p>
        </p:txBody>
      </p:sp>
      <p:sp>
        <p:nvSpPr>
          <p:cNvPr id="11" name="Text 8"/>
          <p:cNvSpPr/>
          <p:nvPr/>
        </p:nvSpPr>
        <p:spPr>
          <a:xfrm>
            <a:off x="868680" y="4709160"/>
            <a:ext cx="1783080" cy="1371600"/>
          </a:xfrm>
          <a:prstGeom prst="rect">
            <a:avLst/>
          </a:prstGeom>
          <a:noFill/>
          <a:ln/>
        </p:spPr>
        <p:txBody>
          <a:bodyPr wrap="square" rtlCol="0" anchor="ctr"/>
          <a:lstStyle/>
          <a:p>
            <a:pPr indent="0" marL="0">
              <a:lnSpc>
                <a:spcPts val="1100"/>
              </a:lnSpc>
              <a:buNone/>
            </a:pPr>
            <a:r>
              <a:rPr lang="en-US" sz="750" dirty="0">
                <a:solidFill>
                  <a:srgbClr val="10B981"/>
                </a:solidFill>
                <a:latin typeface="Arial" pitchFamily="34" charset="0"/>
                <a:ea typeface="Arial" pitchFamily="34" charset="-122"/>
                <a:cs typeface="Arial" pitchFamily="34" charset="-120"/>
              </a:rPr>
              <a:t>• Type discrimination (URL/SMS/Phone/File)</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Boundary length clamping</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UTF-8 sanitization</a:t>
            </a:r>
            <a:endParaRPr lang="en-US" sz="750" dirty="0"/>
          </a:p>
        </p:txBody>
      </p:sp>
      <p:sp>
        <p:nvSpPr>
          <p:cNvPr id="12" name="Shape 9"/>
          <p:cNvSpPr/>
          <p:nvPr/>
        </p:nvSpPr>
        <p:spPr>
          <a:xfrm>
            <a:off x="2898648" y="1508760"/>
            <a:ext cx="2057400" cy="4800600"/>
          </a:xfrm>
          <a:prstGeom prst="roundRect">
            <a:avLst>
              <a:gd name="adj" fmla="val 5333"/>
            </a:avLst>
          </a:prstGeom>
          <a:solidFill>
            <a:srgbClr val="10121E"/>
          </a:solidFill>
          <a:ln w="15240">
            <a:solidFill>
              <a:srgbClr val="2D2845"/>
            </a:solidFill>
            <a:prstDash val="solid"/>
          </a:ln>
        </p:spPr>
      </p:sp>
      <p:sp>
        <p:nvSpPr>
          <p:cNvPr id="13" name="Text 10"/>
          <p:cNvSpPr/>
          <p:nvPr/>
        </p:nvSpPr>
        <p:spPr>
          <a:xfrm>
            <a:off x="3035808" y="1691640"/>
            <a:ext cx="1783080" cy="22860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REDACT</a:t>
            </a:r>
            <a:endParaRPr lang="en-US" sz="900" dirty="0"/>
          </a:p>
        </p:txBody>
      </p:sp>
      <p:sp>
        <p:nvSpPr>
          <p:cNvPr id="14" name="Text 11"/>
          <p:cNvSpPr/>
          <p:nvPr/>
        </p:nvSpPr>
        <p:spPr>
          <a:xfrm>
            <a:off x="3035808" y="1965960"/>
            <a:ext cx="1783080" cy="502920"/>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2. Client-Side PII Scrub</a:t>
            </a:r>
            <a:endParaRPr lang="en-US" sz="1200" dirty="0"/>
          </a:p>
        </p:txBody>
      </p:sp>
      <p:sp>
        <p:nvSpPr>
          <p:cNvPr id="15" name="Text 12"/>
          <p:cNvSpPr/>
          <p:nvPr/>
        </p:nvSpPr>
        <p:spPr>
          <a:xfrm>
            <a:off x="3035808" y="2514600"/>
            <a:ext cx="1783080" cy="210312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Executes regex patterns for Aadhaar, PAN, UPI VPAs, and credentials. Replaces matches with anonymized tokens before HTTP transmission.</a:t>
            </a:r>
            <a:endParaRPr lang="en-US" sz="850" dirty="0"/>
          </a:p>
        </p:txBody>
      </p:sp>
      <p:sp>
        <p:nvSpPr>
          <p:cNvPr id="16" name="Text 13"/>
          <p:cNvSpPr/>
          <p:nvPr/>
        </p:nvSpPr>
        <p:spPr>
          <a:xfrm>
            <a:off x="3035808" y="4709160"/>
            <a:ext cx="1783080" cy="1371600"/>
          </a:xfrm>
          <a:prstGeom prst="rect">
            <a:avLst/>
          </a:prstGeom>
          <a:noFill/>
          <a:ln/>
        </p:spPr>
        <p:txBody>
          <a:bodyPr wrap="square" rtlCol="0" anchor="ctr"/>
          <a:lstStyle/>
          <a:p>
            <a:pPr indent="0" marL="0">
              <a:lnSpc>
                <a:spcPts val="1100"/>
              </a:lnSpc>
              <a:buNone/>
            </a:pPr>
            <a:r>
              <a:rPr lang="en-US" sz="750" dirty="0">
                <a:solidFill>
                  <a:srgbClr val="10B981"/>
                </a:solidFill>
                <a:latin typeface="Arial" pitchFamily="34" charset="0"/>
                <a:ea typeface="Arial" pitchFamily="34" charset="-122"/>
                <a:cs typeface="Arial" pitchFamily="34" charset="-120"/>
              </a:rPr>
              <a:t>• Pre-flight fetch interceptor</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Regex lookahead for 12-digit UIDAI</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Generates token redaction map</a:t>
            </a:r>
            <a:endParaRPr lang="en-US" sz="750" dirty="0"/>
          </a:p>
        </p:txBody>
      </p:sp>
      <p:sp>
        <p:nvSpPr>
          <p:cNvPr id="17" name="Shape 14"/>
          <p:cNvSpPr/>
          <p:nvPr/>
        </p:nvSpPr>
        <p:spPr>
          <a:xfrm>
            <a:off x="5065776" y="1508760"/>
            <a:ext cx="2057400" cy="4800600"/>
          </a:xfrm>
          <a:prstGeom prst="roundRect">
            <a:avLst>
              <a:gd name="adj" fmla="val 5333"/>
            </a:avLst>
          </a:prstGeom>
          <a:solidFill>
            <a:srgbClr val="10121E"/>
          </a:solidFill>
          <a:ln w="15240">
            <a:solidFill>
              <a:srgbClr val="2D2845"/>
            </a:solidFill>
            <a:prstDash val="solid"/>
          </a:ln>
        </p:spPr>
      </p:sp>
      <p:sp>
        <p:nvSpPr>
          <p:cNvPr id="18" name="Text 15"/>
          <p:cNvSpPr/>
          <p:nvPr/>
        </p:nvSpPr>
        <p:spPr>
          <a:xfrm>
            <a:off x="5202936" y="1691640"/>
            <a:ext cx="1783080" cy="22860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SHIELD</a:t>
            </a:r>
            <a:endParaRPr lang="en-US" sz="900" dirty="0"/>
          </a:p>
        </p:txBody>
      </p:sp>
      <p:sp>
        <p:nvSpPr>
          <p:cNvPr id="19" name="Text 16"/>
          <p:cNvSpPr/>
          <p:nvPr/>
        </p:nvSpPr>
        <p:spPr>
          <a:xfrm>
            <a:off x="5202936" y="1965960"/>
            <a:ext cx="1783080" cy="502920"/>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3. Anti-SSRF &amp; DNS Shield</a:t>
            </a:r>
            <a:endParaRPr lang="en-US" sz="1200" dirty="0"/>
          </a:p>
        </p:txBody>
      </p:sp>
      <p:sp>
        <p:nvSpPr>
          <p:cNvPr id="20" name="Text 17"/>
          <p:cNvSpPr/>
          <p:nvPr/>
        </p:nvSpPr>
        <p:spPr>
          <a:xfrm>
            <a:off x="5202936" y="2514600"/>
            <a:ext cx="1783080" cy="210312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Resolves hostname, decodes octal/hex/decimal IPs, and compares against RFC 1918 private subnets, CGNAT 100.64.0.0/10, and cloud metadata.</a:t>
            </a:r>
            <a:endParaRPr lang="en-US" sz="850" dirty="0"/>
          </a:p>
        </p:txBody>
      </p:sp>
      <p:sp>
        <p:nvSpPr>
          <p:cNvPr id="21" name="Text 18"/>
          <p:cNvSpPr/>
          <p:nvPr/>
        </p:nvSpPr>
        <p:spPr>
          <a:xfrm>
            <a:off x="5202936" y="4709160"/>
            <a:ext cx="1783080" cy="1371600"/>
          </a:xfrm>
          <a:prstGeom prst="rect">
            <a:avLst/>
          </a:prstGeom>
          <a:noFill/>
          <a:ln/>
        </p:spPr>
        <p:txBody>
          <a:bodyPr wrap="square" rtlCol="0" anchor="ctr"/>
          <a:lstStyle/>
          <a:p>
            <a:pPr indent="0" marL="0">
              <a:lnSpc>
                <a:spcPts val="1100"/>
              </a:lnSpc>
              <a:buNone/>
            </a:pPr>
            <a:r>
              <a:rPr lang="en-US" sz="750" dirty="0">
                <a:solidFill>
                  <a:srgbClr val="10B981"/>
                </a:solidFill>
                <a:latin typeface="Arial" pitchFamily="34" charset="0"/>
                <a:ea typeface="Arial" pitchFamily="34" charset="-122"/>
                <a:cs typeface="Arial" pitchFamily="34" charset="-120"/>
              </a:rPr>
              <a:t>• IPv4 integer to octet converter</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IPv6-mapped IPv4 check (::ffff:)</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Direct connection rejection if private</a:t>
            </a:r>
            <a:endParaRPr lang="en-US" sz="750" dirty="0"/>
          </a:p>
        </p:txBody>
      </p:sp>
      <p:sp>
        <p:nvSpPr>
          <p:cNvPr id="22" name="Shape 19"/>
          <p:cNvSpPr/>
          <p:nvPr/>
        </p:nvSpPr>
        <p:spPr>
          <a:xfrm>
            <a:off x="7232904" y="1508760"/>
            <a:ext cx="2057400" cy="4800600"/>
          </a:xfrm>
          <a:prstGeom prst="roundRect">
            <a:avLst>
              <a:gd name="adj" fmla="val 5333"/>
            </a:avLst>
          </a:prstGeom>
          <a:solidFill>
            <a:srgbClr val="10121E"/>
          </a:solidFill>
          <a:ln w="15240">
            <a:solidFill>
              <a:srgbClr val="2D2845"/>
            </a:solidFill>
            <a:prstDash val="solid"/>
          </a:ln>
        </p:spPr>
      </p:sp>
      <p:sp>
        <p:nvSpPr>
          <p:cNvPr id="23" name="Text 20"/>
          <p:cNvSpPr/>
          <p:nvPr/>
        </p:nvSpPr>
        <p:spPr>
          <a:xfrm>
            <a:off x="7370064" y="1691640"/>
            <a:ext cx="1783080" cy="22860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CROSS-CHECK</a:t>
            </a:r>
            <a:endParaRPr lang="en-US" sz="900" dirty="0"/>
          </a:p>
        </p:txBody>
      </p:sp>
      <p:sp>
        <p:nvSpPr>
          <p:cNvPr id="24" name="Text 21"/>
          <p:cNvSpPr/>
          <p:nvPr/>
        </p:nvSpPr>
        <p:spPr>
          <a:xfrm>
            <a:off x="7370064" y="1965960"/>
            <a:ext cx="1783080" cy="502920"/>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4. Multi-Engine Consensus</a:t>
            </a:r>
            <a:endParaRPr lang="en-US" sz="1200" dirty="0"/>
          </a:p>
        </p:txBody>
      </p:sp>
      <p:sp>
        <p:nvSpPr>
          <p:cNvPr id="25" name="Text 22"/>
          <p:cNvSpPr/>
          <p:nvPr/>
        </p:nvSpPr>
        <p:spPr>
          <a:xfrm>
            <a:off x="7370064" y="2514600"/>
            <a:ext cx="1783080" cy="210312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Executes local heuristic patterns, queries VirusTotal 70+ AV vendor consensus, and tests Levenshtein typosquatting distances.</a:t>
            </a:r>
            <a:endParaRPr lang="en-US" sz="850" dirty="0"/>
          </a:p>
        </p:txBody>
      </p:sp>
      <p:sp>
        <p:nvSpPr>
          <p:cNvPr id="26" name="Text 23"/>
          <p:cNvSpPr/>
          <p:nvPr/>
        </p:nvSpPr>
        <p:spPr>
          <a:xfrm>
            <a:off x="7370064" y="4709160"/>
            <a:ext cx="1783080" cy="1371600"/>
          </a:xfrm>
          <a:prstGeom prst="rect">
            <a:avLst/>
          </a:prstGeom>
          <a:noFill/>
          <a:ln/>
        </p:spPr>
        <p:txBody>
          <a:bodyPr wrap="square" rtlCol="0" anchor="ctr"/>
          <a:lstStyle/>
          <a:p>
            <a:pPr indent="0" marL="0">
              <a:lnSpc>
                <a:spcPts val="1100"/>
              </a:lnSpc>
              <a:buNone/>
            </a:pPr>
            <a:r>
              <a:rPr lang="en-US" sz="750" dirty="0">
                <a:solidFill>
                  <a:srgbClr val="10B981"/>
                </a:solidFill>
                <a:latin typeface="Arial" pitchFamily="34" charset="0"/>
                <a:ea typeface="Arial" pitchFamily="34" charset="-122"/>
                <a:cs typeface="Arial" pitchFamily="34" charset="-120"/>
              </a:rPr>
              <a:t>• Parallel promise settlement</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5000ms strict timeout per provider</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Heuristic urgency scoring (0-100)</a:t>
            </a:r>
            <a:endParaRPr lang="en-US" sz="750" dirty="0"/>
          </a:p>
        </p:txBody>
      </p:sp>
      <p:sp>
        <p:nvSpPr>
          <p:cNvPr id="27" name="Shape 24"/>
          <p:cNvSpPr/>
          <p:nvPr/>
        </p:nvSpPr>
        <p:spPr>
          <a:xfrm>
            <a:off x="9400032" y="1508760"/>
            <a:ext cx="2057400" cy="4800600"/>
          </a:xfrm>
          <a:prstGeom prst="roundRect">
            <a:avLst>
              <a:gd name="adj" fmla="val 5333"/>
            </a:avLst>
          </a:prstGeom>
          <a:solidFill>
            <a:srgbClr val="10121E"/>
          </a:solidFill>
          <a:ln w="15240">
            <a:solidFill>
              <a:srgbClr val="8B5CF6"/>
            </a:solidFill>
            <a:prstDash val="solid"/>
          </a:ln>
        </p:spPr>
      </p:sp>
      <p:sp>
        <p:nvSpPr>
          <p:cNvPr id="28" name="Text 25"/>
          <p:cNvSpPr/>
          <p:nvPr/>
        </p:nvSpPr>
        <p:spPr>
          <a:xfrm>
            <a:off x="9537192" y="1691640"/>
            <a:ext cx="1783080" cy="228600"/>
          </a:xfrm>
          <a:prstGeom prst="rect">
            <a:avLst/>
          </a:prstGeom>
          <a:noFill/>
          <a:ln/>
        </p:spPr>
        <p:txBody>
          <a:bodyPr wrap="square" rtlCol="0" anchor="ctr"/>
          <a:lstStyle/>
          <a:p>
            <a:pPr indent="0" marL="0">
              <a:buNone/>
            </a:pPr>
            <a:r>
              <a:rPr lang="en-US" sz="900" b="1" dirty="0">
                <a:solidFill>
                  <a:srgbClr val="A78BFA"/>
                </a:solidFill>
                <a:latin typeface="Arial" pitchFamily="34" charset="0"/>
                <a:ea typeface="Arial" pitchFamily="34" charset="-122"/>
                <a:cs typeface="Arial" pitchFamily="34" charset="-120"/>
              </a:rPr>
              <a:t>VERDICT</a:t>
            </a:r>
            <a:endParaRPr lang="en-US" sz="900" dirty="0"/>
          </a:p>
        </p:txBody>
      </p:sp>
      <p:sp>
        <p:nvSpPr>
          <p:cNvPr id="29" name="Text 26"/>
          <p:cNvSpPr/>
          <p:nvPr/>
        </p:nvSpPr>
        <p:spPr>
          <a:xfrm>
            <a:off x="9537192" y="1965960"/>
            <a:ext cx="1783080" cy="502920"/>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5. Section 5 Contract Synthesis</a:t>
            </a:r>
            <a:endParaRPr lang="en-US" sz="1200" dirty="0"/>
          </a:p>
        </p:txBody>
      </p:sp>
      <p:sp>
        <p:nvSpPr>
          <p:cNvPr id="30" name="Text 27"/>
          <p:cNvSpPr/>
          <p:nvPr/>
        </p:nvSpPr>
        <p:spPr>
          <a:xfrm>
            <a:off x="9537192" y="2514600"/>
            <a:ext cx="1783080" cy="2103120"/>
          </a:xfrm>
          <a:prstGeom prst="rect">
            <a:avLst/>
          </a:prstGeom>
          <a:noFill/>
          <a:ln/>
        </p:spPr>
        <p:txBody>
          <a:bodyPr wrap="square" rtlCol="0" anchor="ctr"/>
          <a:lstStyle/>
          <a:p>
            <a:pPr indent="0" marL="0">
              <a:lnSpc>
                <a:spcPts val="1200"/>
              </a:lnSpc>
              <a:buNone/>
            </a:pPr>
            <a:r>
              <a:rPr lang="en-US" sz="850" dirty="0">
                <a:solidFill>
                  <a:srgbClr val="9295AA"/>
                </a:solidFill>
                <a:latin typeface="Arial" pitchFamily="34" charset="0"/>
                <a:ea typeface="Arial" pitchFamily="34" charset="-122"/>
                <a:cs typeface="Arial" pitchFamily="34" charset="-120"/>
              </a:rPr>
              <a:t>Consolidates all signals into our unified API contract: status, category, evidence array, limitations, and actionable "Do This Next" advice.</a:t>
            </a:r>
            <a:endParaRPr lang="en-US" sz="850" dirty="0"/>
          </a:p>
        </p:txBody>
      </p:sp>
      <p:sp>
        <p:nvSpPr>
          <p:cNvPr id="31" name="Text 28"/>
          <p:cNvSpPr/>
          <p:nvPr/>
        </p:nvSpPr>
        <p:spPr>
          <a:xfrm>
            <a:off x="9537192" y="4709160"/>
            <a:ext cx="1783080" cy="1371600"/>
          </a:xfrm>
          <a:prstGeom prst="rect">
            <a:avLst/>
          </a:prstGeom>
          <a:noFill/>
          <a:ln/>
        </p:spPr>
        <p:txBody>
          <a:bodyPr wrap="square" rtlCol="0" anchor="ctr"/>
          <a:lstStyle/>
          <a:p>
            <a:pPr indent="0" marL="0">
              <a:lnSpc>
                <a:spcPts val="1100"/>
              </a:lnSpc>
              <a:buNone/>
            </a:pPr>
            <a:r>
              <a:rPr lang="en-US" sz="750" dirty="0">
                <a:solidFill>
                  <a:srgbClr val="10B981"/>
                </a:solidFill>
                <a:latin typeface="Arial" pitchFamily="34" charset="0"/>
                <a:ea typeface="Arial" pitchFamily="34" charset="-122"/>
                <a:cs typeface="Arial" pitchFamily="34" charset="-120"/>
              </a:rPr>
              <a:t>• Strict Zod schema enforcement</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Plain-language explanation</a:t>
            </a:r>
            <a:endParaRPr lang="en-US" sz="750" dirty="0"/>
          </a:p>
          <a:p>
            <a:pPr indent="0" marL="0">
              <a:lnSpc>
                <a:spcPts val="1100"/>
              </a:lnSpc>
              <a:buNone/>
            </a:pPr>
            <a:r>
              <a:rPr lang="en-US" sz="750" dirty="0">
                <a:solidFill>
                  <a:srgbClr val="10B981"/>
                </a:solidFill>
                <a:latin typeface="Arial" pitchFamily="34" charset="0"/>
                <a:ea typeface="Arial" pitchFamily="34" charset="-122"/>
                <a:cs typeface="Arial" pitchFamily="34" charset="-120"/>
              </a:rPr>
              <a:t>• 1930 / bank dispute step generation</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REGIONALIZED DIGITAL PROTECTION</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India Trust Suite: Built for 1.4 Billion Citizens</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52578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4892040" cy="228600"/>
          </a:xfrm>
          <a:prstGeom prst="rect">
            <a:avLst/>
          </a:prstGeom>
          <a:noFill/>
          <a:ln/>
        </p:spPr>
        <p:txBody>
          <a:bodyPr wrap="square" rtlCol="0" anchor="ctr"/>
          <a:lstStyle/>
          <a:p>
            <a:pPr indent="0" marL="0">
              <a:buNone/>
            </a:pPr>
            <a:r>
              <a:rPr lang="en-US" sz="850" b="1" dirty="0">
                <a:solidFill>
                  <a:srgbClr val="EF4444"/>
                </a:solidFill>
                <a:latin typeface="Arial" pitchFamily="34" charset="0"/>
                <a:ea typeface="Arial" pitchFamily="34" charset="-122"/>
                <a:cs typeface="Arial" pitchFamily="34" charset="-120"/>
              </a:rPr>
              <a:t>🚨  FINANCIAL DEFENSE</a:t>
            </a:r>
            <a:endParaRPr lang="en-US" sz="850" dirty="0"/>
          </a:p>
        </p:txBody>
      </p:sp>
      <p:sp>
        <p:nvSpPr>
          <p:cNvPr id="9" name="Text 6"/>
          <p:cNvSpPr/>
          <p:nvPr/>
        </p:nvSpPr>
        <p:spPr>
          <a:xfrm>
            <a:off x="91440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Emergency 1930 Golden Hour Mode</a:t>
            </a:r>
            <a:endParaRPr lang="en-US" sz="1200" dirty="0"/>
          </a:p>
        </p:txBody>
      </p:sp>
      <p:sp>
        <p:nvSpPr>
          <p:cNvPr id="10" name="Text 7"/>
          <p:cNvSpPr/>
          <p:nvPr/>
        </p:nvSpPr>
        <p:spPr>
          <a:xfrm>
            <a:off x="91440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Interactive step-by-step triage for UPI and net-banking fraud victims. Direct 1-tap dial to the 1930 National Cyber Helpline and an automated bank manager dispute letter generator.</a:t>
            </a:r>
            <a:endParaRPr lang="en-US" sz="900" dirty="0"/>
          </a:p>
        </p:txBody>
      </p:sp>
      <p:sp>
        <p:nvSpPr>
          <p:cNvPr id="11" name="Shape 8"/>
          <p:cNvSpPr/>
          <p:nvPr/>
        </p:nvSpPr>
        <p:spPr>
          <a:xfrm>
            <a:off x="6172200" y="1508760"/>
            <a:ext cx="52578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6355080" y="1645920"/>
            <a:ext cx="48920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LEGAL RIGHTS</a:t>
            </a:r>
            <a:endParaRPr lang="en-US" sz="850" dirty="0"/>
          </a:p>
        </p:txBody>
      </p:sp>
      <p:sp>
        <p:nvSpPr>
          <p:cNvPr id="13" name="Text 10"/>
          <p:cNvSpPr/>
          <p:nvPr/>
        </p:nvSpPr>
        <p:spPr>
          <a:xfrm>
            <a:off x="635508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DPDP Act 2023 Legal Toolkit</a:t>
            </a:r>
            <a:endParaRPr lang="en-US" sz="1200" dirty="0"/>
          </a:p>
        </p:txBody>
      </p:sp>
      <p:sp>
        <p:nvSpPr>
          <p:cNvPr id="14" name="Text 11"/>
          <p:cNvSpPr/>
          <p:nvPr/>
        </p:nvSpPr>
        <p:spPr>
          <a:xfrm>
            <a:off x="635508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Empowers citizens to exercise their rights under India’s Digital Personal Data Protection Act 2023: instant legal notice generators for consent withdrawal and right-to-erasure.</a:t>
            </a:r>
            <a:endParaRPr lang="en-US" sz="900" dirty="0"/>
          </a:p>
        </p:txBody>
      </p:sp>
      <p:sp>
        <p:nvSpPr>
          <p:cNvPr id="15" name="Shape 12"/>
          <p:cNvSpPr/>
          <p:nvPr/>
        </p:nvSpPr>
        <p:spPr>
          <a:xfrm>
            <a:off x="731520" y="4000500"/>
            <a:ext cx="52578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914400" y="4137660"/>
            <a:ext cx="48920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ACCESSIBLE DESIGN</a:t>
            </a:r>
            <a:endParaRPr lang="en-US" sz="850" dirty="0"/>
          </a:p>
        </p:txBody>
      </p:sp>
      <p:sp>
        <p:nvSpPr>
          <p:cNvPr id="17" name="Text 14"/>
          <p:cNvSpPr/>
          <p:nvPr/>
        </p:nvSpPr>
        <p:spPr>
          <a:xfrm>
            <a:off x="91440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Elder Mode &amp; Bilingual Architecture</a:t>
            </a:r>
            <a:endParaRPr lang="en-US" sz="1200" dirty="0"/>
          </a:p>
        </p:txBody>
      </p:sp>
      <p:sp>
        <p:nvSpPr>
          <p:cNvPr id="18" name="Text 15"/>
          <p:cNvSpPr/>
          <p:nvPr/>
        </p:nvSpPr>
        <p:spPr>
          <a:xfrm>
            <a:off x="91440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One-click switch to high-contrast large typography with plain-language, non-jargon explanations in Hindi and English, ensuring seniors and first-time smartphone users are protected.</a:t>
            </a:r>
            <a:endParaRPr lang="en-US" sz="900" dirty="0"/>
          </a:p>
        </p:txBody>
      </p:sp>
      <p:sp>
        <p:nvSpPr>
          <p:cNvPr id="19" name="Shape 16"/>
          <p:cNvSpPr/>
          <p:nvPr/>
        </p:nvSpPr>
        <p:spPr>
          <a:xfrm>
            <a:off x="6172200" y="4000500"/>
            <a:ext cx="52578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6355080" y="4137660"/>
            <a:ext cx="48920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BREACH DETECTION</a:t>
            </a:r>
            <a:endParaRPr lang="en-US" sz="850" dirty="0"/>
          </a:p>
        </p:txBody>
      </p:sp>
      <p:sp>
        <p:nvSpPr>
          <p:cNvPr id="21" name="Text 18"/>
          <p:cNvSpPr/>
          <p:nvPr/>
        </p:nvSpPr>
        <p:spPr>
          <a:xfrm>
            <a:off x="635508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K-Anonymity Credential Checker</a:t>
            </a:r>
            <a:endParaRPr lang="en-US" sz="1200" dirty="0"/>
          </a:p>
        </p:txBody>
      </p:sp>
      <p:sp>
        <p:nvSpPr>
          <p:cNvPr id="22" name="Text 19"/>
          <p:cNvSpPr/>
          <p:nvPr/>
        </p:nvSpPr>
        <p:spPr>
          <a:xfrm>
            <a:off x="635508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Verifies whether phone numbers, emails, or passwords have been leaked in public breaches using 5-character SHA-1 hash prefixes. Credentials never leave the device.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PRODUCTION GLASSMORPHISM UI</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Cyber Analytics Dashboard: Visual Design &amp; Telemetry</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52578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48920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VISUAL DESIGN</a:t>
            </a:r>
            <a:endParaRPr lang="en-US" sz="850" dirty="0"/>
          </a:p>
        </p:txBody>
      </p:sp>
      <p:sp>
        <p:nvSpPr>
          <p:cNvPr id="9" name="Text 6"/>
          <p:cNvSpPr/>
          <p:nvPr/>
        </p:nvSpPr>
        <p:spPr>
          <a:xfrm>
            <a:off x="91440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Deep Obsidian Design System</a:t>
            </a:r>
            <a:endParaRPr lang="en-US" sz="1200" dirty="0"/>
          </a:p>
        </p:txBody>
      </p:sp>
      <p:sp>
        <p:nvSpPr>
          <p:cNvPr id="10" name="Text 7"/>
          <p:cNvSpPr/>
          <p:nvPr/>
        </p:nvSpPr>
        <p:spPr>
          <a:xfrm>
            <a:off x="91440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Engineered with #07080D background, #10121E card surfaces, #8B5CF6 glowing purple accents, and 1px crisp borders for a unified, modern command-center experience.</a:t>
            </a:r>
            <a:endParaRPr lang="en-US" sz="900" dirty="0"/>
          </a:p>
        </p:txBody>
      </p:sp>
      <p:sp>
        <p:nvSpPr>
          <p:cNvPr id="11" name="Shape 8"/>
          <p:cNvSpPr/>
          <p:nvPr/>
        </p:nvSpPr>
        <p:spPr>
          <a:xfrm>
            <a:off x="6172200" y="1508760"/>
            <a:ext cx="52578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6355080" y="1645920"/>
            <a:ext cx="48920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KPI TELEMETRY</a:t>
            </a:r>
            <a:endParaRPr lang="en-US" sz="850" dirty="0"/>
          </a:p>
        </p:txBody>
      </p:sp>
      <p:sp>
        <p:nvSpPr>
          <p:cNvPr id="13" name="Text 10"/>
          <p:cNvSpPr/>
          <p:nvPr/>
        </p:nvSpPr>
        <p:spPr>
          <a:xfrm>
            <a:off x="635508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4 Interactive KPI Cards</a:t>
            </a:r>
            <a:endParaRPr lang="en-US" sz="1200" dirty="0"/>
          </a:p>
        </p:txBody>
      </p:sp>
      <p:sp>
        <p:nvSpPr>
          <p:cNvPr id="14" name="Text 11"/>
          <p:cNvSpPr/>
          <p:nvPr/>
        </p:nvSpPr>
        <p:spPr>
          <a:xfrm>
            <a:off x="635508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Live telemetry cards featuring glowing purple rings (active growth), grouped bar charts (subscriptions), and radial arc gauges (retention rate).</a:t>
            </a:r>
            <a:endParaRPr lang="en-US" sz="900" dirty="0"/>
          </a:p>
        </p:txBody>
      </p:sp>
      <p:sp>
        <p:nvSpPr>
          <p:cNvPr id="15" name="Shape 12"/>
          <p:cNvSpPr/>
          <p:nvPr/>
        </p:nvSpPr>
        <p:spPr>
          <a:xfrm>
            <a:off x="731520" y="4000500"/>
            <a:ext cx="52578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914400" y="4137660"/>
            <a:ext cx="4892040" cy="228600"/>
          </a:xfrm>
          <a:prstGeom prst="rect">
            <a:avLst/>
          </a:prstGeom>
          <a:noFill/>
          <a:ln/>
        </p:spPr>
        <p:txBody>
          <a:bodyPr wrap="square" rtlCol="0" anchor="ctr"/>
          <a:lstStyle/>
          <a:p>
            <a:pPr indent="0" marL="0">
              <a:buNone/>
            </a:pPr>
            <a:r>
              <a:rPr lang="en-US" sz="850" b="1" dirty="0">
                <a:solidFill>
                  <a:srgbClr val="6366F1"/>
                </a:solidFill>
                <a:latin typeface="Arial" pitchFamily="34" charset="0"/>
                <a:ea typeface="Arial" pitchFamily="34" charset="-122"/>
                <a:cs typeface="Arial" pitchFamily="34" charset="-120"/>
              </a:rPr>
              <a:t>📈  DATA VISUALIZATION</a:t>
            </a:r>
            <a:endParaRPr lang="en-US" sz="850" dirty="0"/>
          </a:p>
        </p:txBody>
      </p:sp>
      <p:sp>
        <p:nvSpPr>
          <p:cNvPr id="17" name="Text 14"/>
          <p:cNvSpPr/>
          <p:nvPr/>
        </p:nvSpPr>
        <p:spPr>
          <a:xfrm>
            <a:off x="91440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Main Dynamic Overview Chart</a:t>
            </a:r>
            <a:endParaRPr lang="en-US" sz="1200" dirty="0"/>
          </a:p>
        </p:txBody>
      </p:sp>
      <p:sp>
        <p:nvSpPr>
          <p:cNvPr id="18" name="Text 15"/>
          <p:cNvSpPr/>
          <p:nvPr/>
        </p:nvSpPr>
        <p:spPr>
          <a:xfrm>
            <a:off x="91440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Interactive dual-series curve chart with crosshair guidelines, data point tooltips, month toggles, and series visibility selectors running at 60 frames per second.</a:t>
            </a:r>
            <a:endParaRPr lang="en-US" sz="900" dirty="0"/>
          </a:p>
        </p:txBody>
      </p:sp>
      <p:sp>
        <p:nvSpPr>
          <p:cNvPr id="19" name="Shape 16"/>
          <p:cNvSpPr/>
          <p:nvPr/>
        </p:nvSpPr>
        <p:spPr>
          <a:xfrm>
            <a:off x="6172200" y="4000500"/>
            <a:ext cx="52578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6355080" y="4137660"/>
            <a:ext cx="48920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API BACKEND</a:t>
            </a:r>
            <a:endParaRPr lang="en-US" sz="850" dirty="0"/>
          </a:p>
        </p:txBody>
      </p:sp>
      <p:sp>
        <p:nvSpPr>
          <p:cNvPr id="21" name="Text 18"/>
          <p:cNvSpPr/>
          <p:nvPr/>
        </p:nvSpPr>
        <p:spPr>
          <a:xfrm>
            <a:off x="635508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Real-Time REST Telemetry Endpoint</a:t>
            </a:r>
            <a:endParaRPr lang="en-US" sz="1200" dirty="0"/>
          </a:p>
        </p:txBody>
      </p:sp>
      <p:sp>
        <p:nvSpPr>
          <p:cNvPr id="22" name="Text 19"/>
          <p:cNvSpPr/>
          <p:nvPr/>
        </p:nvSpPr>
        <p:spPr>
          <a:xfrm>
            <a:off x="635508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Powered by /api/v1/dashboard/metrics, serving dynamic telemetry curves, node health status, and cache headers (s-maxage=10, stale-while-revalidate=30).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FORENSIC CAPABILITIES</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Deep-Dive: Modular Forensic Inspection Engines</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52578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4892040" cy="228600"/>
          </a:xfrm>
          <a:prstGeom prst="rect">
            <a:avLst/>
          </a:prstGeom>
          <a:noFill/>
          <a:ln/>
        </p:spPr>
        <p:txBody>
          <a:bodyPr wrap="square" rtlCol="0" anchor="ctr"/>
          <a:lstStyle/>
          <a:p>
            <a:pPr indent="0" marL="0">
              <a:buNone/>
            </a:pPr>
            <a:r>
              <a:rPr lang="en-US" sz="850" b="1" dirty="0">
                <a:solidFill>
                  <a:srgbClr val="6366F1"/>
                </a:solidFill>
                <a:latin typeface="Arial" pitchFamily="34" charset="0"/>
                <a:ea typeface="Arial" pitchFamily="34" charset="-122"/>
                <a:cs typeface="Arial" pitchFamily="34" charset="-120"/>
              </a:rPr>
              <a:t>💬  SMS / CHAT</a:t>
            </a:r>
            <a:endParaRPr lang="en-US" sz="850" dirty="0"/>
          </a:p>
        </p:txBody>
      </p:sp>
      <p:sp>
        <p:nvSpPr>
          <p:cNvPr id="9" name="Text 6"/>
          <p:cNvSpPr/>
          <p:nvPr/>
        </p:nvSpPr>
        <p:spPr>
          <a:xfrm>
            <a:off x="91440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Message Inspector</a:t>
            </a:r>
            <a:endParaRPr lang="en-US" sz="1200" dirty="0"/>
          </a:p>
        </p:txBody>
      </p:sp>
      <p:sp>
        <p:nvSpPr>
          <p:cNvPr id="10" name="Text 7"/>
          <p:cNvSpPr/>
          <p:nvPr/>
        </p:nvSpPr>
        <p:spPr>
          <a:xfrm>
            <a:off x="91440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Scans SMS, WhatsApp, and email snippets. Uses lexical analysis to detect artificial urgency, panic triggers, KYC suspension traps, and fake helpline numbers.</a:t>
            </a:r>
            <a:endParaRPr lang="en-US" sz="900" dirty="0"/>
          </a:p>
        </p:txBody>
      </p:sp>
      <p:sp>
        <p:nvSpPr>
          <p:cNvPr id="11" name="Shape 8"/>
          <p:cNvSpPr/>
          <p:nvPr/>
        </p:nvSpPr>
        <p:spPr>
          <a:xfrm>
            <a:off x="6172200" y="1508760"/>
            <a:ext cx="52578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6355080" y="1645920"/>
            <a:ext cx="48920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WEB / DNS</a:t>
            </a:r>
            <a:endParaRPr lang="en-US" sz="850" dirty="0"/>
          </a:p>
        </p:txBody>
      </p:sp>
      <p:sp>
        <p:nvSpPr>
          <p:cNvPr id="13" name="Text 10"/>
          <p:cNvSpPr/>
          <p:nvPr/>
        </p:nvSpPr>
        <p:spPr>
          <a:xfrm>
            <a:off x="635508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URL Deep Inspector</a:t>
            </a:r>
            <a:endParaRPr lang="en-US" sz="1200" dirty="0"/>
          </a:p>
        </p:txBody>
      </p:sp>
      <p:sp>
        <p:nvSpPr>
          <p:cNvPr id="14" name="Text 11"/>
          <p:cNvSpPr/>
          <p:nvPr/>
        </p:nvSpPr>
        <p:spPr>
          <a:xfrm>
            <a:off x="635508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Validates destination IPs against SSRF rules, calculates Levenshtein typosquatting distances against 50+ banks, and gathers consensus across 70+ antivirus engines.</a:t>
            </a:r>
            <a:endParaRPr lang="en-US" sz="900" dirty="0"/>
          </a:p>
        </p:txBody>
      </p:sp>
      <p:sp>
        <p:nvSpPr>
          <p:cNvPr id="15" name="Shape 12"/>
          <p:cNvSpPr/>
          <p:nvPr/>
        </p:nvSpPr>
        <p:spPr>
          <a:xfrm>
            <a:off x="731520" y="4000500"/>
            <a:ext cx="52578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914400" y="4137660"/>
            <a:ext cx="48920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FILE INTEGRITY</a:t>
            </a:r>
            <a:endParaRPr lang="en-US" sz="850" dirty="0"/>
          </a:p>
        </p:txBody>
      </p:sp>
      <p:sp>
        <p:nvSpPr>
          <p:cNvPr id="17" name="Text 14"/>
          <p:cNvSpPr/>
          <p:nvPr/>
        </p:nvSpPr>
        <p:spPr>
          <a:xfrm>
            <a:off x="91440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File Integrity Engine</a:t>
            </a:r>
            <a:endParaRPr lang="en-US" sz="1200" dirty="0"/>
          </a:p>
        </p:txBody>
      </p:sp>
      <p:sp>
        <p:nvSpPr>
          <p:cNvPr id="18" name="Text 15"/>
          <p:cNvSpPr/>
          <p:nvPr/>
        </p:nvSpPr>
        <p:spPr>
          <a:xfrm>
            <a:off x="91440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Computes SHA-256 and SHA-512 hashes inside client memory using W3C Web Crypto. Compares checksums against trusted publisher registries with zero file upload.</a:t>
            </a:r>
            <a:endParaRPr lang="en-US" sz="900" dirty="0"/>
          </a:p>
        </p:txBody>
      </p:sp>
      <p:sp>
        <p:nvSpPr>
          <p:cNvPr id="19" name="Shape 16"/>
          <p:cNvSpPr/>
          <p:nvPr/>
        </p:nvSpPr>
        <p:spPr>
          <a:xfrm>
            <a:off x="6172200" y="4000500"/>
            <a:ext cx="52578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6355080" y="4137660"/>
            <a:ext cx="48920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MISINFORMATION</a:t>
            </a:r>
            <a:endParaRPr lang="en-US" sz="850" dirty="0"/>
          </a:p>
        </p:txBody>
      </p:sp>
      <p:sp>
        <p:nvSpPr>
          <p:cNvPr id="21" name="Text 18"/>
          <p:cNvSpPr/>
          <p:nvPr/>
        </p:nvSpPr>
        <p:spPr>
          <a:xfrm>
            <a:off x="635508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Claim &amp; Rumor Verifier</a:t>
            </a:r>
            <a:endParaRPr lang="en-US" sz="1200" dirty="0"/>
          </a:p>
        </p:txBody>
      </p:sp>
      <p:sp>
        <p:nvSpPr>
          <p:cNvPr id="22" name="Text 19"/>
          <p:cNvSpPr/>
          <p:nvPr/>
        </p:nvSpPr>
        <p:spPr>
          <a:xfrm>
            <a:off x="635508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Triage engine that separates sensationalized misinformation rhetoric from factual propositions, cross-referencing reputable fact-checking archives.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RED-TEAM VALIDATION</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Security Audit Remediation: Production Hardening</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34290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30632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AUTH SECURITY</a:t>
            </a:r>
            <a:endParaRPr lang="en-US" sz="850" dirty="0"/>
          </a:p>
        </p:txBody>
      </p:sp>
      <p:sp>
        <p:nvSpPr>
          <p:cNvPr id="9" name="Text 6"/>
          <p:cNvSpPr/>
          <p:nvPr/>
        </p:nvSpPr>
        <p:spPr>
          <a:xfrm>
            <a:off x="914400" y="1892808"/>
            <a:ext cx="30632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AIM-001: JWT Cryptographic Verification</a:t>
            </a:r>
            <a:endParaRPr lang="en-US" sz="1200" dirty="0"/>
          </a:p>
        </p:txBody>
      </p:sp>
      <p:sp>
        <p:nvSpPr>
          <p:cNvPr id="10" name="Text 7"/>
          <p:cNvSpPr/>
          <p:nvPr/>
        </p:nvSpPr>
        <p:spPr>
          <a:xfrm>
            <a:off x="914400" y="2258568"/>
            <a:ext cx="30632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Enforces strict HMAC-SHA256 signature checking. Explicitly rejects unsigned tokens (alg: none), forged signatures, and expired timestamps.</a:t>
            </a:r>
            <a:endParaRPr lang="en-US" sz="900" dirty="0"/>
          </a:p>
        </p:txBody>
      </p:sp>
      <p:sp>
        <p:nvSpPr>
          <p:cNvPr id="11" name="Shape 8"/>
          <p:cNvSpPr/>
          <p:nvPr/>
        </p:nvSpPr>
        <p:spPr>
          <a:xfrm>
            <a:off x="4343400" y="1508760"/>
            <a:ext cx="34290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4526280" y="1645920"/>
            <a:ext cx="30632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ANTI-SSRF</a:t>
            </a:r>
            <a:endParaRPr lang="en-US" sz="850" dirty="0"/>
          </a:p>
        </p:txBody>
      </p:sp>
      <p:sp>
        <p:nvSpPr>
          <p:cNvPr id="13" name="Text 10"/>
          <p:cNvSpPr/>
          <p:nvPr/>
        </p:nvSpPr>
        <p:spPr>
          <a:xfrm>
            <a:off x="4526280" y="1892808"/>
            <a:ext cx="30632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AIM-002: Advanced SSRF Validation</a:t>
            </a:r>
            <a:endParaRPr lang="en-US" sz="1200" dirty="0"/>
          </a:p>
        </p:txBody>
      </p:sp>
      <p:sp>
        <p:nvSpPr>
          <p:cNvPr id="14" name="Text 11"/>
          <p:cNvSpPr/>
          <p:nvPr/>
        </p:nvSpPr>
        <p:spPr>
          <a:xfrm>
            <a:off x="4526280" y="2258568"/>
            <a:ext cx="30632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Decodes obfuscated decimal, octal, hex (0x7f), and IPv4-mapped IPv6 addresses. Blocks Carrier-Grade NAT (100.64.0.0/10) and cloud metadata (169.254.169.254).</a:t>
            </a:r>
            <a:endParaRPr lang="en-US" sz="900" dirty="0"/>
          </a:p>
        </p:txBody>
      </p:sp>
      <p:sp>
        <p:nvSpPr>
          <p:cNvPr id="15" name="Shape 12"/>
          <p:cNvSpPr/>
          <p:nvPr/>
        </p:nvSpPr>
        <p:spPr>
          <a:xfrm>
            <a:off x="7955280" y="1508760"/>
            <a:ext cx="34290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8138160" y="1645920"/>
            <a:ext cx="3063240" cy="228600"/>
          </a:xfrm>
          <a:prstGeom prst="rect">
            <a:avLst/>
          </a:prstGeom>
          <a:noFill/>
          <a:ln/>
        </p:spPr>
        <p:txBody>
          <a:bodyPr wrap="square" rtlCol="0" anchor="ctr"/>
          <a:lstStyle/>
          <a:p>
            <a:pPr indent="0" marL="0">
              <a:buNone/>
            </a:pPr>
            <a:r>
              <a:rPr lang="en-US" sz="850" b="1" dirty="0">
                <a:solidFill>
                  <a:srgbClr val="6366F1"/>
                </a:solidFill>
                <a:latin typeface="Arial" pitchFamily="34" charset="0"/>
                <a:ea typeface="Arial" pitchFamily="34" charset="-122"/>
                <a:cs typeface="Arial" pitchFamily="34" charset="-120"/>
              </a:rPr>
              <a:t>🔒  HTTP HEADERS</a:t>
            </a:r>
            <a:endParaRPr lang="en-US" sz="850" dirty="0"/>
          </a:p>
        </p:txBody>
      </p:sp>
      <p:sp>
        <p:nvSpPr>
          <p:cNvPr id="17" name="Text 14"/>
          <p:cNvSpPr/>
          <p:nvPr/>
        </p:nvSpPr>
        <p:spPr>
          <a:xfrm>
            <a:off x="8138160" y="1892808"/>
            <a:ext cx="30632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AIM-003: Defensive HTTP Security Headers</a:t>
            </a:r>
            <a:endParaRPr lang="en-US" sz="1200" dirty="0"/>
          </a:p>
        </p:txBody>
      </p:sp>
      <p:sp>
        <p:nvSpPr>
          <p:cNvPr id="18" name="Text 15"/>
          <p:cNvSpPr/>
          <p:nvPr/>
        </p:nvSpPr>
        <p:spPr>
          <a:xfrm>
            <a:off x="8138160" y="2258568"/>
            <a:ext cx="30632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Enforces strict Content-Security-Policy (CSP), HSTS (max-age=31536000), frame-ancestors none (anti-clickjacking), and X-Content-Type-Options nosniff.</a:t>
            </a:r>
            <a:endParaRPr lang="en-US" sz="900" dirty="0"/>
          </a:p>
        </p:txBody>
      </p:sp>
      <p:sp>
        <p:nvSpPr>
          <p:cNvPr id="19" name="Shape 16"/>
          <p:cNvSpPr/>
          <p:nvPr/>
        </p:nvSpPr>
        <p:spPr>
          <a:xfrm>
            <a:off x="731520" y="4000500"/>
            <a:ext cx="34290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914400" y="4137660"/>
            <a:ext cx="30632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PII SANITIZATION</a:t>
            </a:r>
            <a:endParaRPr lang="en-US" sz="850" dirty="0"/>
          </a:p>
        </p:txBody>
      </p:sp>
      <p:sp>
        <p:nvSpPr>
          <p:cNvPr id="21" name="Text 18"/>
          <p:cNvSpPr/>
          <p:nvPr/>
        </p:nvSpPr>
        <p:spPr>
          <a:xfrm>
            <a:off x="914400" y="4384548"/>
            <a:ext cx="30632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AIM-004: Sensitive PII Redaction</a:t>
            </a:r>
            <a:endParaRPr lang="en-US" sz="1200" dirty="0"/>
          </a:p>
        </p:txBody>
      </p:sp>
      <p:sp>
        <p:nvSpPr>
          <p:cNvPr id="22" name="Text 19"/>
          <p:cNvSpPr/>
          <p:nvPr/>
        </p:nvSpPr>
        <p:spPr>
          <a:xfrm>
            <a:off x="914400" y="4750308"/>
            <a:ext cx="30632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Client-side regex scrubbing for 12-digit Aadhaar cards, 10-char PAN cards, and UPI VPAs before network transit, fulfilling DPDP Act 2023 mandates.</a:t>
            </a:r>
            <a:endParaRPr lang="en-US" sz="900" dirty="0"/>
          </a:p>
        </p:txBody>
      </p:sp>
      <p:sp>
        <p:nvSpPr>
          <p:cNvPr id="23" name="Shape 20"/>
          <p:cNvSpPr/>
          <p:nvPr/>
        </p:nvSpPr>
        <p:spPr>
          <a:xfrm>
            <a:off x="4343400" y="4000500"/>
            <a:ext cx="3429000" cy="2263140"/>
          </a:xfrm>
          <a:prstGeom prst="roundRect">
            <a:avLst>
              <a:gd name="adj" fmla="val 4848"/>
            </a:avLst>
          </a:prstGeom>
          <a:solidFill>
            <a:srgbClr val="10121E"/>
          </a:solidFill>
          <a:ln w="12700">
            <a:solidFill>
              <a:srgbClr val="2D2845"/>
            </a:solidFill>
            <a:prstDash val="solid"/>
          </a:ln>
        </p:spPr>
      </p:sp>
      <p:sp>
        <p:nvSpPr>
          <p:cNvPr id="24" name="Text 21"/>
          <p:cNvSpPr/>
          <p:nvPr/>
        </p:nvSpPr>
        <p:spPr>
          <a:xfrm>
            <a:off x="4526280" y="4137660"/>
            <a:ext cx="30632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AI SAFETY</a:t>
            </a:r>
            <a:endParaRPr lang="en-US" sz="850" dirty="0"/>
          </a:p>
        </p:txBody>
      </p:sp>
      <p:sp>
        <p:nvSpPr>
          <p:cNvPr id="25" name="Text 22"/>
          <p:cNvSpPr/>
          <p:nvPr/>
        </p:nvSpPr>
        <p:spPr>
          <a:xfrm>
            <a:off x="4526280" y="4384548"/>
            <a:ext cx="30632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AIM-005: Model Authority Restriction</a:t>
            </a:r>
            <a:endParaRPr lang="en-US" sz="1200" dirty="0"/>
          </a:p>
        </p:txBody>
      </p:sp>
      <p:sp>
        <p:nvSpPr>
          <p:cNvPr id="26" name="Text 23"/>
          <p:cNvSpPr/>
          <p:nvPr/>
        </p:nvSpPr>
        <p:spPr>
          <a:xfrm>
            <a:off x="4526280" y="4750308"/>
            <a:ext cx="30632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Architectural invariant guaranteeing that generative AI outputs cannot downgrade or overturn a high-risk finding identified by deterministic rules.</a:t>
            </a:r>
            <a:endParaRPr lang="en-US" sz="900" dirty="0"/>
          </a:p>
        </p:txBody>
      </p:sp>
      <p:sp>
        <p:nvSpPr>
          <p:cNvPr id="27" name="Shape 24"/>
          <p:cNvSpPr/>
          <p:nvPr/>
        </p:nvSpPr>
        <p:spPr>
          <a:xfrm>
            <a:off x="7955280" y="4000500"/>
            <a:ext cx="3429000" cy="2263140"/>
          </a:xfrm>
          <a:prstGeom prst="roundRect">
            <a:avLst>
              <a:gd name="adj" fmla="val 4848"/>
            </a:avLst>
          </a:prstGeom>
          <a:solidFill>
            <a:srgbClr val="10121E"/>
          </a:solidFill>
          <a:ln w="12700">
            <a:solidFill>
              <a:srgbClr val="2D2845"/>
            </a:solidFill>
            <a:prstDash val="solid"/>
          </a:ln>
        </p:spPr>
      </p:sp>
      <p:sp>
        <p:nvSpPr>
          <p:cNvPr id="28" name="Text 25"/>
          <p:cNvSpPr/>
          <p:nvPr/>
        </p:nvSpPr>
        <p:spPr>
          <a:xfrm>
            <a:off x="8138160" y="4137660"/>
            <a:ext cx="3063240" cy="228600"/>
          </a:xfrm>
          <a:prstGeom prst="rect">
            <a:avLst/>
          </a:prstGeom>
          <a:noFill/>
          <a:ln/>
        </p:spPr>
        <p:txBody>
          <a:bodyPr wrap="square" rtlCol="0" anchor="ctr"/>
          <a:lstStyle/>
          <a:p>
            <a:pPr indent="0" marL="0">
              <a:buNone/>
            </a:pPr>
            <a:r>
              <a:rPr lang="en-US" sz="850" b="1" dirty="0">
                <a:solidFill>
                  <a:srgbClr val="EC4899"/>
                </a:solidFill>
                <a:latin typeface="Arial" pitchFamily="34" charset="0"/>
                <a:ea typeface="Arial" pitchFamily="34" charset="-122"/>
                <a:cs typeface="Arial" pitchFamily="34" charset="-120"/>
              </a:rPr>
              <a:t>⏱️  SIDE-CHANNEL DEFENSE</a:t>
            </a:r>
            <a:endParaRPr lang="en-US" sz="850" dirty="0"/>
          </a:p>
        </p:txBody>
      </p:sp>
      <p:sp>
        <p:nvSpPr>
          <p:cNvPr id="29" name="Text 26"/>
          <p:cNvSpPr/>
          <p:nvPr/>
        </p:nvSpPr>
        <p:spPr>
          <a:xfrm>
            <a:off x="8138160" y="4384548"/>
            <a:ext cx="30632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AIM-006: Timing-Safe Comparison</a:t>
            </a:r>
            <a:endParaRPr lang="en-US" sz="1200" dirty="0"/>
          </a:p>
        </p:txBody>
      </p:sp>
      <p:sp>
        <p:nvSpPr>
          <p:cNvPr id="30" name="Text 27"/>
          <p:cNvSpPr/>
          <p:nvPr/>
        </p:nvSpPr>
        <p:spPr>
          <a:xfrm>
            <a:off x="8138160" y="4750308"/>
            <a:ext cx="30632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Uses crypto.timingSafeEqual on normalized byte buffers for all token and key validations, completely eliminating side-channel timing attack vulnerabilities.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PRODUCTION METRICS</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Rigorous Testing &amp; Performance Verification</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463040"/>
            <a:ext cx="2491740" cy="1188720"/>
          </a:xfrm>
          <a:prstGeom prst="roundRect">
            <a:avLst>
              <a:gd name="adj" fmla="val 9231"/>
            </a:avLst>
          </a:prstGeom>
          <a:solidFill>
            <a:srgbClr val="10121E"/>
          </a:solidFill>
          <a:ln w="12700">
            <a:solidFill>
              <a:srgbClr val="8B5CF6"/>
            </a:solidFill>
            <a:prstDash val="solid"/>
          </a:ln>
        </p:spPr>
      </p:sp>
      <p:sp>
        <p:nvSpPr>
          <p:cNvPr id="8" name="Text 5"/>
          <p:cNvSpPr/>
          <p:nvPr/>
        </p:nvSpPr>
        <p:spPr>
          <a:xfrm>
            <a:off x="822960" y="1600200"/>
            <a:ext cx="2308860" cy="411480"/>
          </a:xfrm>
          <a:prstGeom prst="rect">
            <a:avLst/>
          </a:prstGeom>
          <a:noFill/>
          <a:ln/>
        </p:spPr>
        <p:txBody>
          <a:bodyPr wrap="square" rtlCol="0" anchor="ctr"/>
          <a:lstStyle/>
          <a:p>
            <a:pPr algn="ctr" indent="0" marL="0">
              <a:buNone/>
            </a:pPr>
            <a:r>
              <a:rPr lang="en-US" sz="2000" b="1" dirty="0">
                <a:solidFill>
                  <a:srgbClr val="A78BFA"/>
                </a:solidFill>
                <a:latin typeface="Arial" pitchFamily="34" charset="0"/>
                <a:ea typeface="Arial" pitchFamily="34" charset="-122"/>
                <a:cs typeface="Arial" pitchFamily="34" charset="-120"/>
              </a:rPr>
              <a:t>105 / 105</a:t>
            </a:r>
            <a:endParaRPr lang="en-US" sz="2000" dirty="0"/>
          </a:p>
        </p:txBody>
      </p:sp>
      <p:sp>
        <p:nvSpPr>
          <p:cNvPr id="9" name="Text 6"/>
          <p:cNvSpPr/>
          <p:nvPr/>
        </p:nvSpPr>
        <p:spPr>
          <a:xfrm>
            <a:off x="822960" y="2011680"/>
            <a:ext cx="2308860" cy="228600"/>
          </a:xfrm>
          <a:prstGeom prst="rect">
            <a:avLst/>
          </a:prstGeom>
          <a:noFill/>
          <a:ln/>
        </p:spPr>
        <p:txBody>
          <a:bodyPr wrap="square" rtlCol="0" anchor="ctr"/>
          <a:lstStyle/>
          <a:p>
            <a:pPr algn="ctr" indent="0" marL="0">
              <a:buNone/>
            </a:pPr>
            <a:r>
              <a:rPr lang="en-US" sz="950" b="1" dirty="0">
                <a:solidFill>
                  <a:srgbClr val="F5F5FA"/>
                </a:solidFill>
                <a:latin typeface="Arial" pitchFamily="34" charset="0"/>
                <a:ea typeface="Arial" pitchFamily="34" charset="-122"/>
                <a:cs typeface="Arial" pitchFamily="34" charset="-120"/>
              </a:rPr>
              <a:t>Unit &amp; Regression Tests</a:t>
            </a:r>
            <a:endParaRPr lang="en-US" sz="950" dirty="0"/>
          </a:p>
        </p:txBody>
      </p:sp>
      <p:sp>
        <p:nvSpPr>
          <p:cNvPr id="10" name="Text 7"/>
          <p:cNvSpPr/>
          <p:nvPr/>
        </p:nvSpPr>
        <p:spPr>
          <a:xfrm>
            <a:off x="822960" y="2240280"/>
            <a:ext cx="2308860" cy="320040"/>
          </a:xfrm>
          <a:prstGeom prst="rect">
            <a:avLst/>
          </a:prstGeom>
          <a:noFill/>
          <a:ln/>
        </p:spPr>
        <p:txBody>
          <a:bodyPr wrap="square" rtlCol="0" anchor="ctr"/>
          <a:lstStyle/>
          <a:p>
            <a:pPr algn="ctr" indent="0" marL="0">
              <a:buNone/>
            </a:pPr>
            <a:r>
              <a:rPr lang="en-US" sz="750" dirty="0">
                <a:solidFill>
                  <a:srgbClr val="9295AA"/>
                </a:solidFill>
                <a:latin typeface="Arial" pitchFamily="34" charset="0"/>
                <a:ea typeface="Arial" pitchFamily="34" charset="-122"/>
                <a:cs typeface="Arial" pitchFamily="34" charset="-120"/>
              </a:rPr>
              <a:t>Zero failures across 46 test suites in 591ms</a:t>
            </a:r>
            <a:endParaRPr lang="en-US" sz="750" dirty="0"/>
          </a:p>
        </p:txBody>
      </p:sp>
      <p:sp>
        <p:nvSpPr>
          <p:cNvPr id="11" name="Shape 8"/>
          <p:cNvSpPr/>
          <p:nvPr/>
        </p:nvSpPr>
        <p:spPr>
          <a:xfrm>
            <a:off x="3406140" y="1463040"/>
            <a:ext cx="2491740" cy="1188720"/>
          </a:xfrm>
          <a:prstGeom prst="roundRect">
            <a:avLst>
              <a:gd name="adj" fmla="val 9231"/>
            </a:avLst>
          </a:prstGeom>
          <a:solidFill>
            <a:srgbClr val="10121E"/>
          </a:solidFill>
          <a:ln w="12700">
            <a:solidFill>
              <a:srgbClr val="8B5CF6"/>
            </a:solidFill>
            <a:prstDash val="solid"/>
          </a:ln>
        </p:spPr>
      </p:sp>
      <p:sp>
        <p:nvSpPr>
          <p:cNvPr id="12" name="Text 9"/>
          <p:cNvSpPr/>
          <p:nvPr/>
        </p:nvSpPr>
        <p:spPr>
          <a:xfrm>
            <a:off x="3497580" y="1600200"/>
            <a:ext cx="2308860" cy="411480"/>
          </a:xfrm>
          <a:prstGeom prst="rect">
            <a:avLst/>
          </a:prstGeom>
          <a:noFill/>
          <a:ln/>
        </p:spPr>
        <p:txBody>
          <a:bodyPr wrap="square" rtlCol="0" anchor="ctr"/>
          <a:lstStyle/>
          <a:p>
            <a:pPr algn="ctr" indent="0" marL="0">
              <a:buNone/>
            </a:pPr>
            <a:r>
              <a:rPr lang="en-US" sz="2000" b="1" dirty="0">
                <a:solidFill>
                  <a:srgbClr val="A78BFA"/>
                </a:solidFill>
                <a:latin typeface="Arial" pitchFamily="34" charset="0"/>
                <a:ea typeface="Arial" pitchFamily="34" charset="-122"/>
                <a:cs typeface="Arial" pitchFamily="34" charset="-120"/>
              </a:rPr>
              <a:t>11 / 11</a:t>
            </a:r>
            <a:endParaRPr lang="en-US" sz="2000" dirty="0"/>
          </a:p>
        </p:txBody>
      </p:sp>
      <p:sp>
        <p:nvSpPr>
          <p:cNvPr id="13" name="Text 10"/>
          <p:cNvSpPr/>
          <p:nvPr/>
        </p:nvSpPr>
        <p:spPr>
          <a:xfrm>
            <a:off x="3497580" y="2011680"/>
            <a:ext cx="2308860" cy="228600"/>
          </a:xfrm>
          <a:prstGeom prst="rect">
            <a:avLst/>
          </a:prstGeom>
          <a:noFill/>
          <a:ln/>
        </p:spPr>
        <p:txBody>
          <a:bodyPr wrap="square" rtlCol="0" anchor="ctr"/>
          <a:lstStyle/>
          <a:p>
            <a:pPr algn="ctr" indent="0" marL="0">
              <a:buNone/>
            </a:pPr>
            <a:r>
              <a:rPr lang="en-US" sz="950" b="1" dirty="0">
                <a:solidFill>
                  <a:srgbClr val="F5F5FA"/>
                </a:solidFill>
                <a:latin typeface="Arial" pitchFamily="34" charset="0"/>
                <a:ea typeface="Arial" pitchFamily="34" charset="-122"/>
                <a:cs typeface="Arial" pitchFamily="34" charset="-120"/>
              </a:rPr>
              <a:t>Live API E2E Checks</a:t>
            </a:r>
            <a:endParaRPr lang="en-US" sz="950" dirty="0"/>
          </a:p>
        </p:txBody>
      </p:sp>
      <p:sp>
        <p:nvSpPr>
          <p:cNvPr id="14" name="Text 11"/>
          <p:cNvSpPr/>
          <p:nvPr/>
        </p:nvSpPr>
        <p:spPr>
          <a:xfrm>
            <a:off x="3497580" y="2240280"/>
            <a:ext cx="2308860" cy="320040"/>
          </a:xfrm>
          <a:prstGeom prst="rect">
            <a:avLst/>
          </a:prstGeom>
          <a:noFill/>
          <a:ln/>
        </p:spPr>
        <p:txBody>
          <a:bodyPr wrap="square" rtlCol="0" anchor="ctr"/>
          <a:lstStyle/>
          <a:p>
            <a:pPr algn="ctr" indent="0" marL="0">
              <a:buNone/>
            </a:pPr>
            <a:r>
              <a:rPr lang="en-US" sz="750" dirty="0">
                <a:solidFill>
                  <a:srgbClr val="9295AA"/>
                </a:solidFill>
                <a:latin typeface="Arial" pitchFamily="34" charset="0"/>
                <a:ea typeface="Arial" pitchFamily="34" charset="-122"/>
                <a:cs typeface="Arial" pitchFamily="34" charset="-120"/>
              </a:rPr>
              <a:t>Health, Anti-SSRF, VT v3, PII, and Dossiers passing</a:t>
            </a:r>
            <a:endParaRPr lang="en-US" sz="750" dirty="0"/>
          </a:p>
        </p:txBody>
      </p:sp>
      <p:sp>
        <p:nvSpPr>
          <p:cNvPr id="15" name="Shape 12"/>
          <p:cNvSpPr/>
          <p:nvPr/>
        </p:nvSpPr>
        <p:spPr>
          <a:xfrm>
            <a:off x="6080760" y="1463040"/>
            <a:ext cx="2491740" cy="1188720"/>
          </a:xfrm>
          <a:prstGeom prst="roundRect">
            <a:avLst>
              <a:gd name="adj" fmla="val 9231"/>
            </a:avLst>
          </a:prstGeom>
          <a:solidFill>
            <a:srgbClr val="10121E"/>
          </a:solidFill>
          <a:ln w="12700">
            <a:solidFill>
              <a:srgbClr val="8B5CF6"/>
            </a:solidFill>
            <a:prstDash val="solid"/>
          </a:ln>
        </p:spPr>
      </p:sp>
      <p:sp>
        <p:nvSpPr>
          <p:cNvPr id="16" name="Text 13"/>
          <p:cNvSpPr/>
          <p:nvPr/>
        </p:nvSpPr>
        <p:spPr>
          <a:xfrm>
            <a:off x="6172200" y="1600200"/>
            <a:ext cx="2308860" cy="411480"/>
          </a:xfrm>
          <a:prstGeom prst="rect">
            <a:avLst/>
          </a:prstGeom>
          <a:noFill/>
          <a:ln/>
        </p:spPr>
        <p:txBody>
          <a:bodyPr wrap="square" rtlCol="0" anchor="ctr"/>
          <a:lstStyle/>
          <a:p>
            <a:pPr algn="ctr" indent="0" marL="0">
              <a:buNone/>
            </a:pPr>
            <a:r>
              <a:rPr lang="en-US" sz="2000" b="1" dirty="0">
                <a:solidFill>
                  <a:srgbClr val="A78BFA"/>
                </a:solidFill>
                <a:latin typeface="Arial" pitchFamily="34" charset="0"/>
                <a:ea typeface="Arial" pitchFamily="34" charset="-122"/>
                <a:cs typeface="Arial" pitchFamily="34" charset="-120"/>
              </a:rPr>
              <a:t>294ms</a:t>
            </a:r>
            <a:endParaRPr lang="en-US" sz="2000" dirty="0"/>
          </a:p>
        </p:txBody>
      </p:sp>
      <p:sp>
        <p:nvSpPr>
          <p:cNvPr id="17" name="Text 14"/>
          <p:cNvSpPr/>
          <p:nvPr/>
        </p:nvSpPr>
        <p:spPr>
          <a:xfrm>
            <a:off x="6172200" y="2011680"/>
            <a:ext cx="2308860" cy="228600"/>
          </a:xfrm>
          <a:prstGeom prst="rect">
            <a:avLst/>
          </a:prstGeom>
          <a:noFill/>
          <a:ln/>
        </p:spPr>
        <p:txBody>
          <a:bodyPr wrap="square" rtlCol="0" anchor="ctr"/>
          <a:lstStyle/>
          <a:p>
            <a:pPr algn="ctr" indent="0" marL="0">
              <a:buNone/>
            </a:pPr>
            <a:r>
              <a:rPr lang="en-US" sz="950" b="1" dirty="0">
                <a:solidFill>
                  <a:srgbClr val="F5F5FA"/>
                </a:solidFill>
                <a:latin typeface="Arial" pitchFamily="34" charset="0"/>
                <a:ea typeface="Arial" pitchFamily="34" charset="-122"/>
                <a:cs typeface="Arial" pitchFamily="34" charset="-120"/>
              </a:rPr>
              <a:t>Turbopack Cold Boot</a:t>
            </a:r>
            <a:endParaRPr lang="en-US" sz="950" dirty="0"/>
          </a:p>
        </p:txBody>
      </p:sp>
      <p:sp>
        <p:nvSpPr>
          <p:cNvPr id="18" name="Text 15"/>
          <p:cNvSpPr/>
          <p:nvPr/>
        </p:nvSpPr>
        <p:spPr>
          <a:xfrm>
            <a:off x="6172200" y="2240280"/>
            <a:ext cx="2308860" cy="320040"/>
          </a:xfrm>
          <a:prstGeom prst="rect">
            <a:avLst/>
          </a:prstGeom>
          <a:noFill/>
          <a:ln/>
        </p:spPr>
        <p:txBody>
          <a:bodyPr wrap="square" rtlCol="0" anchor="ctr"/>
          <a:lstStyle/>
          <a:p>
            <a:pPr algn="ctr" indent="0" marL="0">
              <a:buNone/>
            </a:pPr>
            <a:r>
              <a:rPr lang="en-US" sz="750" dirty="0">
                <a:solidFill>
                  <a:srgbClr val="9295AA"/>
                </a:solidFill>
                <a:latin typeface="Arial" pitchFamily="34" charset="0"/>
                <a:ea typeface="Arial" pitchFamily="34" charset="-122"/>
                <a:cs typeface="Arial" pitchFamily="34" charset="-120"/>
              </a:rPr>
              <a:t>Sub-second edge and serverless startup time</a:t>
            </a:r>
            <a:endParaRPr lang="en-US" sz="750" dirty="0"/>
          </a:p>
        </p:txBody>
      </p:sp>
      <p:sp>
        <p:nvSpPr>
          <p:cNvPr id="19" name="Shape 16"/>
          <p:cNvSpPr/>
          <p:nvPr/>
        </p:nvSpPr>
        <p:spPr>
          <a:xfrm>
            <a:off x="8755380" y="1463040"/>
            <a:ext cx="2491740" cy="1188720"/>
          </a:xfrm>
          <a:prstGeom prst="roundRect">
            <a:avLst>
              <a:gd name="adj" fmla="val 9231"/>
            </a:avLst>
          </a:prstGeom>
          <a:solidFill>
            <a:srgbClr val="10121E"/>
          </a:solidFill>
          <a:ln w="12700">
            <a:solidFill>
              <a:srgbClr val="8B5CF6"/>
            </a:solidFill>
            <a:prstDash val="solid"/>
          </a:ln>
        </p:spPr>
      </p:sp>
      <p:sp>
        <p:nvSpPr>
          <p:cNvPr id="20" name="Text 17"/>
          <p:cNvSpPr/>
          <p:nvPr/>
        </p:nvSpPr>
        <p:spPr>
          <a:xfrm>
            <a:off x="8846820" y="1600200"/>
            <a:ext cx="2308860" cy="411480"/>
          </a:xfrm>
          <a:prstGeom prst="rect">
            <a:avLst/>
          </a:prstGeom>
          <a:noFill/>
          <a:ln/>
        </p:spPr>
        <p:txBody>
          <a:bodyPr wrap="square" rtlCol="0" anchor="ctr"/>
          <a:lstStyle/>
          <a:p>
            <a:pPr algn="ctr" indent="0" marL="0">
              <a:buNone/>
            </a:pPr>
            <a:r>
              <a:rPr lang="en-US" sz="2000" b="1" dirty="0">
                <a:solidFill>
                  <a:srgbClr val="A78BFA"/>
                </a:solidFill>
                <a:latin typeface="Arial" pitchFamily="34" charset="0"/>
                <a:ea typeface="Arial" pitchFamily="34" charset="-122"/>
                <a:cs typeface="Arial" pitchFamily="34" charset="-120"/>
              </a:rPr>
              <a:t>25 Routes</a:t>
            </a:r>
            <a:endParaRPr lang="en-US" sz="2000" dirty="0"/>
          </a:p>
        </p:txBody>
      </p:sp>
      <p:sp>
        <p:nvSpPr>
          <p:cNvPr id="21" name="Text 18"/>
          <p:cNvSpPr/>
          <p:nvPr/>
        </p:nvSpPr>
        <p:spPr>
          <a:xfrm>
            <a:off x="8846820" y="2011680"/>
            <a:ext cx="2308860" cy="228600"/>
          </a:xfrm>
          <a:prstGeom prst="rect">
            <a:avLst/>
          </a:prstGeom>
          <a:noFill/>
          <a:ln/>
        </p:spPr>
        <p:txBody>
          <a:bodyPr wrap="square" rtlCol="0" anchor="ctr"/>
          <a:lstStyle/>
          <a:p>
            <a:pPr algn="ctr" indent="0" marL="0">
              <a:buNone/>
            </a:pPr>
            <a:r>
              <a:rPr lang="en-US" sz="950" b="1" dirty="0">
                <a:solidFill>
                  <a:srgbClr val="F5F5FA"/>
                </a:solidFill>
                <a:latin typeface="Arial" pitchFamily="34" charset="0"/>
                <a:ea typeface="Arial" pitchFamily="34" charset="-122"/>
                <a:cs typeface="Arial" pitchFamily="34" charset="-120"/>
              </a:rPr>
              <a:t>Production Compiles</a:t>
            </a:r>
            <a:endParaRPr lang="en-US" sz="950" dirty="0"/>
          </a:p>
        </p:txBody>
      </p:sp>
      <p:sp>
        <p:nvSpPr>
          <p:cNvPr id="22" name="Text 19"/>
          <p:cNvSpPr/>
          <p:nvPr/>
        </p:nvSpPr>
        <p:spPr>
          <a:xfrm>
            <a:off x="8846820" y="2240280"/>
            <a:ext cx="2308860" cy="320040"/>
          </a:xfrm>
          <a:prstGeom prst="rect">
            <a:avLst/>
          </a:prstGeom>
          <a:noFill/>
          <a:ln/>
        </p:spPr>
        <p:txBody>
          <a:bodyPr wrap="square" rtlCol="0" anchor="ctr"/>
          <a:lstStyle/>
          <a:p>
            <a:pPr algn="ctr" indent="0" marL="0">
              <a:buNone/>
            </a:pPr>
            <a:r>
              <a:rPr lang="en-US" sz="750" dirty="0">
                <a:solidFill>
                  <a:srgbClr val="9295AA"/>
                </a:solidFill>
                <a:latin typeface="Arial" pitchFamily="34" charset="0"/>
                <a:ea typeface="Arial" pitchFamily="34" charset="-122"/>
                <a:cs typeface="Arial" pitchFamily="34" charset="-120"/>
              </a:rPr>
              <a:t>Static prefetching and dynamic API gateway routes</a:t>
            </a:r>
            <a:endParaRPr lang="en-US" sz="750" dirty="0"/>
          </a:p>
        </p:txBody>
      </p:sp>
      <p:sp>
        <p:nvSpPr>
          <p:cNvPr id="23" name="Shape 20"/>
          <p:cNvSpPr/>
          <p:nvPr/>
        </p:nvSpPr>
        <p:spPr>
          <a:xfrm>
            <a:off x="731520" y="2834640"/>
            <a:ext cx="3429000" cy="3474720"/>
          </a:xfrm>
          <a:prstGeom prst="roundRect">
            <a:avLst>
              <a:gd name="adj" fmla="val 4000"/>
            </a:avLst>
          </a:prstGeom>
          <a:solidFill>
            <a:srgbClr val="10121E"/>
          </a:solidFill>
          <a:ln w="15240">
            <a:solidFill>
              <a:srgbClr val="10B981"/>
            </a:solidFill>
            <a:prstDash val="solid"/>
          </a:ln>
        </p:spPr>
      </p:sp>
      <p:sp>
        <p:nvSpPr>
          <p:cNvPr id="24" name="Text 21"/>
          <p:cNvSpPr/>
          <p:nvPr/>
        </p:nvSpPr>
        <p:spPr>
          <a:xfrm>
            <a:off x="960120" y="3063240"/>
            <a:ext cx="2971800" cy="274320"/>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  AUTOMATED TESTING</a:t>
            </a:r>
            <a:endParaRPr lang="en-US" sz="950" dirty="0"/>
          </a:p>
        </p:txBody>
      </p:sp>
      <p:sp>
        <p:nvSpPr>
          <p:cNvPr id="25" name="Text 22"/>
          <p:cNvSpPr/>
          <p:nvPr/>
        </p:nvSpPr>
        <p:spPr>
          <a:xfrm>
            <a:off x="960120" y="338328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Zero-Regression CI Gate</a:t>
            </a:r>
            <a:endParaRPr lang="en-US" sz="1400" dirty="0"/>
          </a:p>
        </p:txBody>
      </p:sp>
      <p:sp>
        <p:nvSpPr>
          <p:cNvPr id="26" name="Text 23"/>
          <p:cNvSpPr/>
          <p:nvPr/>
        </p:nvSpPr>
        <p:spPr>
          <a:xfrm>
            <a:off x="960120" y="393192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Automated Suite</a:t>
            </a:r>
            <a:endParaRPr lang="en-US" sz="900" dirty="0"/>
          </a:p>
        </p:txBody>
      </p:sp>
      <p:sp>
        <p:nvSpPr>
          <p:cNvPr id="27" name="Text 24"/>
          <p:cNvSpPr/>
          <p:nvPr/>
        </p:nvSpPr>
        <p:spPr>
          <a:xfrm>
            <a:off x="960120" y="425196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Our test runner verifies every scanner, anti-SSRF IP boundary, PII redactor pattern, and Section 5 response contract automatically before any commit is merged.</a:t>
            </a:r>
            <a:endParaRPr lang="en-US" sz="950" dirty="0"/>
          </a:p>
        </p:txBody>
      </p:sp>
      <p:sp>
        <p:nvSpPr>
          <p:cNvPr id="28" name="Text 25"/>
          <p:cNvSpPr/>
          <p:nvPr/>
        </p:nvSpPr>
        <p:spPr>
          <a:xfrm>
            <a:off x="960120" y="580644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Node test runner execution</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Tests execute in 591ms</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Zero mock data shown in production</a:t>
            </a:r>
            <a:endParaRPr lang="en-US" sz="850" dirty="0"/>
          </a:p>
        </p:txBody>
      </p:sp>
      <p:sp>
        <p:nvSpPr>
          <p:cNvPr id="29" name="Shape 26"/>
          <p:cNvSpPr/>
          <p:nvPr/>
        </p:nvSpPr>
        <p:spPr>
          <a:xfrm>
            <a:off x="4343400" y="2834640"/>
            <a:ext cx="3429000" cy="3474720"/>
          </a:xfrm>
          <a:prstGeom prst="roundRect">
            <a:avLst>
              <a:gd name="adj" fmla="val 4000"/>
            </a:avLst>
          </a:prstGeom>
          <a:solidFill>
            <a:srgbClr val="10121E"/>
          </a:solidFill>
          <a:ln w="15240">
            <a:solidFill>
              <a:srgbClr val="8B5CF6"/>
            </a:solidFill>
            <a:prstDash val="solid"/>
          </a:ln>
        </p:spPr>
      </p:sp>
      <p:sp>
        <p:nvSpPr>
          <p:cNvPr id="30" name="Text 27"/>
          <p:cNvSpPr/>
          <p:nvPr/>
        </p:nvSpPr>
        <p:spPr>
          <a:xfrm>
            <a:off x="4572000" y="3063240"/>
            <a:ext cx="2971800" cy="274320"/>
          </a:xfrm>
          <a:prstGeom prst="rect">
            <a:avLst/>
          </a:prstGeom>
          <a:noFill/>
          <a:ln/>
        </p:spPr>
        <p:txBody>
          <a:bodyPr wrap="square" rtlCol="0" anchor="ctr"/>
          <a:lstStyle/>
          <a:p>
            <a:pPr indent="0" marL="0">
              <a:buNone/>
            </a:pPr>
            <a:r>
              <a:rPr lang="en-US" sz="950" b="1" dirty="0">
                <a:solidFill>
                  <a:srgbClr val="8B5CF6"/>
                </a:solidFill>
                <a:latin typeface="Arial" pitchFamily="34" charset="0"/>
                <a:ea typeface="Arial" pitchFamily="34" charset="-122"/>
                <a:cs typeface="Arial" pitchFamily="34" charset="-120"/>
              </a:rPr>
              <a:t>⚔️  ADVERSARIAL TESTING</a:t>
            </a:r>
            <a:endParaRPr lang="en-US" sz="950" dirty="0"/>
          </a:p>
        </p:txBody>
      </p:sp>
      <p:sp>
        <p:nvSpPr>
          <p:cNvPr id="31" name="Text 28"/>
          <p:cNvSpPr/>
          <p:nvPr/>
        </p:nvSpPr>
        <p:spPr>
          <a:xfrm>
            <a:off x="4572000" y="338328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Adversarial Attack Payloads</a:t>
            </a:r>
            <a:endParaRPr lang="en-US" sz="1400" dirty="0"/>
          </a:p>
        </p:txBody>
      </p:sp>
      <p:sp>
        <p:nvSpPr>
          <p:cNvPr id="32" name="Text 29"/>
          <p:cNvSpPr/>
          <p:nvPr/>
        </p:nvSpPr>
        <p:spPr>
          <a:xfrm>
            <a:off x="4572000" y="393192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Synthetic Testing</a:t>
            </a:r>
            <a:endParaRPr lang="en-US" sz="900" dirty="0"/>
          </a:p>
        </p:txBody>
      </p:sp>
      <p:sp>
        <p:nvSpPr>
          <p:cNvPr id="33" name="Text 30"/>
          <p:cNvSpPr/>
          <p:nvPr/>
        </p:nvSpPr>
        <p:spPr>
          <a:xfrm>
            <a:off x="4572000" y="425196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Tested against real-world obfuscations: 0x7f000001, decimal 2130706433, octal 0177.0.0.1, fake Aadhaar numbers, and malicious prompt injections.</a:t>
            </a:r>
            <a:endParaRPr lang="en-US" sz="950" dirty="0"/>
          </a:p>
        </p:txBody>
      </p:sp>
      <p:sp>
        <p:nvSpPr>
          <p:cNvPr id="34" name="Text 31"/>
          <p:cNvSpPr/>
          <p:nvPr/>
        </p:nvSpPr>
        <p:spPr>
          <a:xfrm>
            <a:off x="4572000" y="580644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SSRF bypass test vectors</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Prompt injection payload regression</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Malicious APK permission matrices</a:t>
            </a:r>
            <a:endParaRPr lang="en-US" sz="850" dirty="0"/>
          </a:p>
        </p:txBody>
      </p:sp>
      <p:sp>
        <p:nvSpPr>
          <p:cNvPr id="35" name="Shape 32"/>
          <p:cNvSpPr/>
          <p:nvPr/>
        </p:nvSpPr>
        <p:spPr>
          <a:xfrm>
            <a:off x="7955280" y="2834640"/>
            <a:ext cx="3429000" cy="3474720"/>
          </a:xfrm>
          <a:prstGeom prst="roundRect">
            <a:avLst>
              <a:gd name="adj" fmla="val 4000"/>
            </a:avLst>
          </a:prstGeom>
          <a:solidFill>
            <a:srgbClr val="10121E"/>
          </a:solidFill>
          <a:ln w="15240">
            <a:solidFill>
              <a:srgbClr val="6366F1"/>
            </a:solidFill>
            <a:prstDash val="solid"/>
          </a:ln>
        </p:spPr>
      </p:sp>
      <p:sp>
        <p:nvSpPr>
          <p:cNvPr id="36" name="Text 33"/>
          <p:cNvSpPr/>
          <p:nvPr/>
        </p:nvSpPr>
        <p:spPr>
          <a:xfrm>
            <a:off x="8183880" y="3063240"/>
            <a:ext cx="2971800" cy="274320"/>
          </a:xfrm>
          <a:prstGeom prst="rect">
            <a:avLst/>
          </a:prstGeom>
          <a:noFill/>
          <a:ln/>
        </p:spPr>
        <p:txBody>
          <a:bodyPr wrap="square" rtlCol="0" anchor="ctr"/>
          <a:lstStyle/>
          <a:p>
            <a:pPr indent="0" marL="0">
              <a:buNone/>
            </a:pPr>
            <a:r>
              <a:rPr lang="en-US" sz="950" b="1" dirty="0">
                <a:solidFill>
                  <a:srgbClr val="6366F1"/>
                </a:solidFill>
                <a:latin typeface="Arial" pitchFamily="34" charset="0"/>
                <a:ea typeface="Arial" pitchFamily="34" charset="-122"/>
                <a:cs typeface="Arial" pitchFamily="34" charset="-120"/>
              </a:rPr>
              <a:t>⚡  EDGE OPTIMIZATION</a:t>
            </a:r>
            <a:endParaRPr lang="en-US" sz="950" dirty="0"/>
          </a:p>
        </p:txBody>
      </p:sp>
      <p:sp>
        <p:nvSpPr>
          <p:cNvPr id="37" name="Text 34"/>
          <p:cNvSpPr/>
          <p:nvPr/>
        </p:nvSpPr>
        <p:spPr>
          <a:xfrm>
            <a:off x="8183880" y="3383280"/>
            <a:ext cx="2971800" cy="594360"/>
          </a:xfrm>
          <a:prstGeom prst="rect">
            <a:avLst/>
          </a:prstGeom>
          <a:noFill/>
          <a:ln/>
        </p:spPr>
        <p:txBody>
          <a:bodyPr wrap="square" rtlCol="0" anchor="ctr"/>
          <a:lstStyle/>
          <a:p>
            <a:pPr indent="0" marL="0">
              <a:buNone/>
            </a:pPr>
            <a:r>
              <a:rPr lang="en-US" sz="1400" b="1" dirty="0">
                <a:solidFill>
                  <a:srgbClr val="F5F5FA"/>
                </a:solidFill>
                <a:latin typeface="Arial" pitchFamily="34" charset="0"/>
                <a:ea typeface="Arial" pitchFamily="34" charset="-122"/>
                <a:cs typeface="Arial" pitchFamily="34" charset="-120"/>
              </a:rPr>
              <a:t>Edge Deployment Optimization</a:t>
            </a:r>
            <a:endParaRPr lang="en-US" sz="1400" dirty="0"/>
          </a:p>
        </p:txBody>
      </p:sp>
      <p:sp>
        <p:nvSpPr>
          <p:cNvPr id="38" name="Text 35"/>
          <p:cNvSpPr/>
          <p:nvPr/>
        </p:nvSpPr>
        <p:spPr>
          <a:xfrm>
            <a:off x="8183880" y="3931920"/>
            <a:ext cx="2971800" cy="274320"/>
          </a:xfrm>
          <a:prstGeom prst="rect">
            <a:avLst/>
          </a:prstGeom>
          <a:noFill/>
          <a:ln/>
        </p:spPr>
        <p:txBody>
          <a:bodyPr wrap="square" rtlCol="0" anchor="ctr"/>
          <a:lstStyle/>
          <a:p>
            <a:pPr indent="0" marL="0">
              <a:buNone/>
            </a:pPr>
            <a:r>
              <a:rPr lang="en-US" sz="900" dirty="0">
                <a:solidFill>
                  <a:srgbClr val="A78BFA"/>
                </a:solidFill>
                <a:latin typeface="Arial" pitchFamily="34" charset="0"/>
                <a:ea typeface="Arial" pitchFamily="34" charset="-122"/>
                <a:cs typeface="Arial" pitchFamily="34" charset="-120"/>
              </a:rPr>
              <a:t>Performance Engineering</a:t>
            </a:r>
            <a:endParaRPr lang="en-US" sz="900" dirty="0"/>
          </a:p>
        </p:txBody>
      </p:sp>
      <p:sp>
        <p:nvSpPr>
          <p:cNvPr id="39" name="Text 36"/>
          <p:cNvSpPr/>
          <p:nvPr/>
        </p:nvSpPr>
        <p:spPr>
          <a:xfrm>
            <a:off x="8183880" y="4251960"/>
            <a:ext cx="2971800" cy="1463040"/>
          </a:xfrm>
          <a:prstGeom prst="rect">
            <a:avLst/>
          </a:prstGeom>
          <a:noFill/>
          <a:ln/>
        </p:spPr>
        <p:txBody>
          <a:bodyPr wrap="square" rtlCol="0" anchor="ctr"/>
          <a:lstStyle/>
          <a:p>
            <a:pPr indent="0" marL="0">
              <a:lnSpc>
                <a:spcPts val="1400"/>
              </a:lnSpc>
              <a:buNone/>
            </a:pPr>
            <a:r>
              <a:rPr lang="en-US" sz="950" dirty="0">
                <a:solidFill>
                  <a:srgbClr val="9295AA"/>
                </a:solidFill>
                <a:latin typeface="Arial" pitchFamily="34" charset="0"/>
                <a:ea typeface="Arial" pitchFamily="34" charset="-122"/>
                <a:cs typeface="Arial" pitchFamily="34" charset="-120"/>
              </a:rPr>
              <a:t>Serverless route optimization ensures sub-400ms scan execution times with automatic edge caching and gzip/brotli compression.</a:t>
            </a:r>
            <a:endParaRPr lang="en-US" sz="950" dirty="0"/>
          </a:p>
        </p:txBody>
      </p:sp>
      <p:sp>
        <p:nvSpPr>
          <p:cNvPr id="40" name="Text 37"/>
          <p:cNvSpPr/>
          <p:nvPr/>
        </p:nvSpPr>
        <p:spPr>
          <a:xfrm>
            <a:off x="8183880" y="5806440"/>
            <a:ext cx="2971800" cy="1371600"/>
          </a:xfrm>
          <a:prstGeom prst="rect">
            <a:avLst/>
          </a:prstGeom>
          <a:noFill/>
          <a:ln/>
        </p:spPr>
        <p:txBody>
          <a:bodyPr wrap="square" rtlCol="0" anchor="ctr"/>
          <a:lstStyle/>
          <a:p>
            <a:pPr indent="0" marL="0">
              <a:lnSpc>
                <a:spcPts val="1300"/>
              </a:lnSpc>
              <a:buNone/>
            </a:pPr>
            <a:r>
              <a:rPr lang="en-US" sz="850" dirty="0">
                <a:solidFill>
                  <a:srgbClr val="10B981"/>
                </a:solidFill>
                <a:latin typeface="Arial" pitchFamily="34" charset="0"/>
                <a:ea typeface="Arial" pitchFamily="34" charset="-122"/>
                <a:cs typeface="Arial" pitchFamily="34" charset="-120"/>
              </a:rPr>
              <a:t>✔  Cache-Control header optimization</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Dynamic code splitting via Next.js dynamic()</a:t>
            </a:r>
            <a:endParaRPr lang="en-US" sz="850" dirty="0"/>
          </a:p>
          <a:p>
            <a:pPr indent="0" marL="0">
              <a:lnSpc>
                <a:spcPts val="1300"/>
              </a:lnSpc>
              <a:buNone/>
            </a:pPr>
            <a:r>
              <a:rPr lang="en-US" sz="850" dirty="0">
                <a:solidFill>
                  <a:srgbClr val="10B981"/>
                </a:solidFill>
                <a:latin typeface="Arial" pitchFamily="34" charset="0"/>
                <a:ea typeface="Arial" pitchFamily="34" charset="-122"/>
                <a:cs typeface="Arial" pitchFamily="34" charset="-120"/>
              </a:rPr>
              <a:t>✔  Lighthouse 95+ performance target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PRODUCTION INFRASTRUCTURE</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Live Global Deployment on Vercel</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52578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48920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PRODUCTION LIVE</a:t>
            </a:r>
            <a:endParaRPr lang="en-US" sz="850" dirty="0"/>
          </a:p>
        </p:txBody>
      </p:sp>
      <p:sp>
        <p:nvSpPr>
          <p:cNvPr id="9" name="Text 6"/>
          <p:cNvSpPr/>
          <p:nvPr/>
        </p:nvSpPr>
        <p:spPr>
          <a:xfrm>
            <a:off x="91440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Global Production URL</a:t>
            </a:r>
            <a:endParaRPr lang="en-US" sz="1200" dirty="0"/>
          </a:p>
        </p:txBody>
      </p:sp>
      <p:sp>
        <p:nvSpPr>
          <p:cNvPr id="10" name="Text 7"/>
          <p:cNvSpPr/>
          <p:nvPr/>
        </p:nvSpPr>
        <p:spPr>
          <a:xfrm>
            <a:off x="91440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Main user suite featuring Check Anything, Emergency 1930 Golden Hour, DPDP 2023 Toolkit, and Bilingual Elder Mode with worldwide edge caching.</a:t>
            </a:r>
            <a:endParaRPr lang="en-US" sz="900" dirty="0"/>
          </a:p>
        </p:txBody>
      </p:sp>
      <p:sp>
        <p:nvSpPr>
          <p:cNvPr id="11" name="Shape 8"/>
          <p:cNvSpPr/>
          <p:nvPr/>
        </p:nvSpPr>
        <p:spPr>
          <a:xfrm>
            <a:off x="6172200" y="1508760"/>
            <a:ext cx="52578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6355080" y="1645920"/>
            <a:ext cx="48920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LIVE SOC</a:t>
            </a:r>
            <a:endParaRPr lang="en-US" sz="850" dirty="0"/>
          </a:p>
        </p:txBody>
      </p:sp>
      <p:sp>
        <p:nvSpPr>
          <p:cNvPr id="13" name="Text 10"/>
          <p:cNvSpPr/>
          <p:nvPr/>
        </p:nvSpPr>
        <p:spPr>
          <a:xfrm>
            <a:off x="635508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Cyber Analytics Dashboard</a:t>
            </a:r>
            <a:endParaRPr lang="en-US" sz="1200" dirty="0"/>
          </a:p>
        </p:txBody>
      </p:sp>
      <p:sp>
        <p:nvSpPr>
          <p:cNvPr id="14" name="Text 11"/>
          <p:cNvSpPr/>
          <p:nvPr/>
        </p:nvSpPr>
        <p:spPr>
          <a:xfrm>
            <a:off x="635508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Dedicated dark SOC telemetry center with 4 interactive KPI metric cards, cubic Bézier charts, vector donut breakdowns, and node latency monitoring.</a:t>
            </a:r>
            <a:endParaRPr lang="en-US" sz="900" dirty="0"/>
          </a:p>
        </p:txBody>
      </p:sp>
      <p:sp>
        <p:nvSpPr>
          <p:cNvPr id="15" name="Shape 12"/>
          <p:cNvSpPr/>
          <p:nvPr/>
        </p:nvSpPr>
        <p:spPr>
          <a:xfrm>
            <a:off x="731520" y="4000500"/>
            <a:ext cx="52578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914400" y="4137660"/>
            <a:ext cx="4892040" cy="228600"/>
          </a:xfrm>
          <a:prstGeom prst="rect">
            <a:avLst/>
          </a:prstGeom>
          <a:noFill/>
          <a:ln/>
        </p:spPr>
        <p:txBody>
          <a:bodyPr wrap="square" rtlCol="0" anchor="ctr"/>
          <a:lstStyle/>
          <a:p>
            <a:pPr indent="0" marL="0">
              <a:buNone/>
            </a:pPr>
            <a:r>
              <a:rPr lang="en-US" sz="850" b="1" dirty="0">
                <a:solidFill>
                  <a:srgbClr val="6366F1"/>
                </a:solidFill>
                <a:latin typeface="Arial" pitchFamily="34" charset="0"/>
                <a:ea typeface="Arial" pitchFamily="34" charset="-122"/>
                <a:cs typeface="Arial" pitchFamily="34" charset="-120"/>
              </a:rPr>
              <a:t>📽️  INTERACTIVE PPT</a:t>
            </a:r>
            <a:endParaRPr lang="en-US" sz="850" dirty="0"/>
          </a:p>
        </p:txBody>
      </p:sp>
      <p:sp>
        <p:nvSpPr>
          <p:cNvPr id="17" name="Text 14"/>
          <p:cNvSpPr/>
          <p:nvPr/>
        </p:nvSpPr>
        <p:spPr>
          <a:xfrm>
            <a:off x="91440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Interactive Tech Deck</a:t>
            </a:r>
            <a:endParaRPr lang="en-US" sz="1200" dirty="0"/>
          </a:p>
        </p:txBody>
      </p:sp>
      <p:sp>
        <p:nvSpPr>
          <p:cNvPr id="18" name="Text 15"/>
          <p:cNvSpPr/>
          <p:nvPr/>
        </p:nvSpPr>
        <p:spPr>
          <a:xfrm>
            <a:off x="91440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This presentation is live in-browser with keyboard navigation, full screen mode, speaker notes, live threat simulation, and direct .pptx download.</a:t>
            </a:r>
            <a:endParaRPr lang="en-US" sz="900" dirty="0"/>
          </a:p>
        </p:txBody>
      </p:sp>
      <p:sp>
        <p:nvSpPr>
          <p:cNvPr id="19" name="Shape 16"/>
          <p:cNvSpPr/>
          <p:nvPr/>
        </p:nvSpPr>
        <p:spPr>
          <a:xfrm>
            <a:off x="6172200" y="4000500"/>
            <a:ext cx="52578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6355080" y="4137660"/>
            <a:ext cx="48920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OPEN SOURCE</a:t>
            </a:r>
            <a:endParaRPr lang="en-US" sz="850" dirty="0"/>
          </a:p>
        </p:txBody>
      </p:sp>
      <p:sp>
        <p:nvSpPr>
          <p:cNvPr id="21" name="Text 18"/>
          <p:cNvSpPr/>
          <p:nvPr/>
        </p:nvSpPr>
        <p:spPr>
          <a:xfrm>
            <a:off x="635508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GitHub Open-Source Repository</a:t>
            </a:r>
            <a:endParaRPr lang="en-US" sz="1200" dirty="0"/>
          </a:p>
        </p:txBody>
      </p:sp>
      <p:sp>
        <p:nvSpPr>
          <p:cNvPr id="22" name="Text 19"/>
          <p:cNvSpPr/>
          <p:nvPr/>
        </p:nvSpPr>
        <p:spPr>
          <a:xfrm>
            <a:off x="635508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Complete source code, CI workflows, security audit reports, and test suites are pushed and publicly auditable under Git version control.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80D"/>
        </a:solidFill>
      </p:bgPr>
    </p:bg>
    <p:spTree>
      <p:nvGrpSpPr>
        <p:cNvPr id="1" name=""/>
        <p:cNvGrpSpPr/>
        <p:nvPr/>
      </p:nvGrpSpPr>
      <p:grpSpPr>
        <a:xfrm>
          <a:off x="0" y="0"/>
          <a:ext cx="0" cy="0"/>
          <a:chOff x="0" y="0"/>
          <a:chExt cx="0" cy="0"/>
        </a:xfrm>
      </p:grpSpPr>
      <p:sp>
        <p:nvSpPr>
          <p:cNvPr id="3" name="Text 0"/>
          <p:cNvSpPr/>
          <p:nvPr/>
        </p:nvSpPr>
        <p:spPr>
          <a:xfrm>
            <a:off x="731520" y="411480"/>
            <a:ext cx="7315200" cy="274320"/>
          </a:xfrm>
          <a:prstGeom prst="rect">
            <a:avLst/>
          </a:prstGeom>
          <a:noFill/>
          <a:ln/>
        </p:spPr>
        <p:txBody>
          <a:bodyPr wrap="square" rtlCol="0" anchor="ctr"/>
          <a:lstStyle/>
          <a:p>
            <a:pPr indent="0" marL="0">
              <a:buNone/>
            </a:pPr>
            <a:r>
              <a:rPr lang="en-US" sz="1000" b="1" dirty="0">
                <a:solidFill>
                  <a:srgbClr val="A78BFA"/>
                </a:solidFill>
                <a:latin typeface="Arial" pitchFamily="34" charset="0"/>
                <a:ea typeface="Arial" pitchFamily="34" charset="-122"/>
                <a:cs typeface="Arial" pitchFamily="34" charset="-120"/>
              </a:rPr>
              <a:t>PHASE HORIZON &amp; VISION</a:t>
            </a:r>
            <a:endParaRPr lang="en-US" sz="1000" dirty="0"/>
          </a:p>
        </p:txBody>
      </p:sp>
      <p:sp>
        <p:nvSpPr>
          <p:cNvPr id="4" name="Text 1"/>
          <p:cNvSpPr/>
          <p:nvPr/>
        </p:nvSpPr>
        <p:spPr>
          <a:xfrm>
            <a:off x="731520" y="685800"/>
            <a:ext cx="10515600" cy="548640"/>
          </a:xfrm>
          <a:prstGeom prst="rect">
            <a:avLst/>
          </a:prstGeom>
          <a:noFill/>
          <a:ln/>
        </p:spPr>
        <p:txBody>
          <a:bodyPr wrap="square" rtlCol="0" anchor="ctr"/>
          <a:lstStyle/>
          <a:p>
            <a:pPr indent="0" marL="0">
              <a:buNone/>
            </a:pPr>
            <a:r>
              <a:rPr lang="en-US" sz="2200" b="1" dirty="0">
                <a:solidFill>
                  <a:srgbClr val="F5F5FA"/>
                </a:solidFill>
                <a:latin typeface="Arial" pitchFamily="34" charset="0"/>
                <a:ea typeface="Arial" pitchFamily="34" charset="-122"/>
                <a:cs typeface="Arial" pitchFamily="34" charset="-120"/>
              </a:rPr>
              <a:t>Future Roadmap &amp; Strategic Vision</a:t>
            </a:r>
            <a:endParaRPr lang="en-US" sz="2200" dirty="0"/>
          </a:p>
        </p:txBody>
      </p:sp>
      <p:sp>
        <p:nvSpPr>
          <p:cNvPr id="5" name="Shape 2"/>
          <p:cNvSpPr/>
          <p:nvPr/>
        </p:nvSpPr>
        <p:spPr>
          <a:xfrm>
            <a:off x="731520" y="1280160"/>
            <a:ext cx="10698480" cy="18288"/>
          </a:xfrm>
          <a:prstGeom prst="rect">
            <a:avLst/>
          </a:prstGeom>
          <a:solidFill>
            <a:srgbClr val="2D2845"/>
          </a:solidFill>
          <a:ln w="12700">
            <a:solidFill>
              <a:srgbClr val="2D2845"/>
            </a:solidFill>
            <a:prstDash val="solid"/>
          </a:ln>
        </p:spPr>
      </p:sp>
      <p:sp>
        <p:nvSpPr>
          <p:cNvPr id="6" name="Text 3"/>
          <p:cNvSpPr/>
          <p:nvPr/>
        </p:nvSpPr>
        <p:spPr>
          <a:xfrm>
            <a:off x="731520" y="6492240"/>
            <a:ext cx="10515600" cy="228600"/>
          </a:xfrm>
          <a:prstGeom prst="rect">
            <a:avLst/>
          </a:prstGeom>
          <a:noFill/>
          <a:ln/>
        </p:spPr>
        <p:txBody>
          <a:bodyPr wrap="square" rtlCol="0" anchor="ctr"/>
          <a:lstStyle/>
          <a:p>
            <a:pPr indent="0" marL="0">
              <a:buNone/>
            </a:pPr>
            <a:r>
              <a:rPr lang="en-US" sz="800" dirty="0">
                <a:solidFill>
                  <a:srgbClr val="687687"/>
                </a:solidFill>
                <a:latin typeface="Arial" pitchFamily="34" charset="0"/>
                <a:ea typeface="Arial" pitchFamily="34" charset="-122"/>
                <a:cs typeface="Arial" pitchFamily="34" charset="-120"/>
              </a:rPr>
              <a:t>AI PROTECTOR • ENTERPRISE ZERO-TRUST ARCHITECTURE • HTTPS://AI-PROTECTOR.VERCEL.APP</a:t>
            </a:r>
            <a:endParaRPr lang="en-US" sz="800" dirty="0"/>
          </a:p>
        </p:txBody>
      </p:sp>
      <p:sp>
        <p:nvSpPr>
          <p:cNvPr id="7" name="Shape 4"/>
          <p:cNvSpPr/>
          <p:nvPr/>
        </p:nvSpPr>
        <p:spPr>
          <a:xfrm>
            <a:off x="731520" y="1508760"/>
            <a:ext cx="5257800" cy="2263140"/>
          </a:xfrm>
          <a:prstGeom prst="roundRect">
            <a:avLst>
              <a:gd name="adj" fmla="val 4848"/>
            </a:avLst>
          </a:prstGeom>
          <a:solidFill>
            <a:srgbClr val="10121E"/>
          </a:solidFill>
          <a:ln w="12700">
            <a:solidFill>
              <a:srgbClr val="2D2845"/>
            </a:solidFill>
            <a:prstDash val="solid"/>
          </a:ln>
        </p:spPr>
      </p:sp>
      <p:sp>
        <p:nvSpPr>
          <p:cNvPr id="8" name="Text 5"/>
          <p:cNvSpPr/>
          <p:nvPr/>
        </p:nvSpPr>
        <p:spPr>
          <a:xfrm>
            <a:off x="914400" y="1645920"/>
            <a:ext cx="4892040" cy="228600"/>
          </a:xfrm>
          <a:prstGeom prst="rect">
            <a:avLst/>
          </a:prstGeom>
          <a:noFill/>
          <a:ln/>
        </p:spPr>
        <p:txBody>
          <a:bodyPr wrap="square" rtlCol="0" anchor="ctr"/>
          <a:lstStyle/>
          <a:p>
            <a:pPr indent="0" marL="0">
              <a:buNone/>
            </a:pPr>
            <a:r>
              <a:rPr lang="en-US" sz="850" b="1" dirty="0">
                <a:solidFill>
                  <a:srgbClr val="6366F1"/>
                </a:solidFill>
                <a:latin typeface="Arial" pitchFamily="34" charset="0"/>
                <a:ea typeface="Arial" pitchFamily="34" charset="-122"/>
                <a:cs typeface="Arial" pitchFamily="34" charset="-120"/>
              </a:rPr>
              <a:t>🔬  BINARY FORENSICS</a:t>
            </a:r>
            <a:endParaRPr lang="en-US" sz="850" dirty="0"/>
          </a:p>
        </p:txBody>
      </p:sp>
      <p:sp>
        <p:nvSpPr>
          <p:cNvPr id="9" name="Text 6"/>
          <p:cNvSpPr/>
          <p:nvPr/>
        </p:nvSpPr>
        <p:spPr>
          <a:xfrm>
            <a:off x="91440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Phase 5: Worker Sandbox &amp; YARA-X</a:t>
            </a:r>
            <a:endParaRPr lang="en-US" sz="1200" dirty="0"/>
          </a:p>
        </p:txBody>
      </p:sp>
      <p:sp>
        <p:nvSpPr>
          <p:cNvPr id="10" name="Text 7"/>
          <p:cNvSpPr/>
          <p:nvPr/>
        </p:nvSpPr>
        <p:spPr>
          <a:xfrm>
            <a:off x="91440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Isolated Python scan worker executing compiled YARA-X rules inside a hardened sandbox for zero-day binary and attachment threat detection.</a:t>
            </a:r>
            <a:endParaRPr lang="en-US" sz="900" dirty="0"/>
          </a:p>
        </p:txBody>
      </p:sp>
      <p:sp>
        <p:nvSpPr>
          <p:cNvPr id="11" name="Shape 8"/>
          <p:cNvSpPr/>
          <p:nvPr/>
        </p:nvSpPr>
        <p:spPr>
          <a:xfrm>
            <a:off x="6172200" y="1508760"/>
            <a:ext cx="5257800" cy="2263140"/>
          </a:xfrm>
          <a:prstGeom prst="roundRect">
            <a:avLst>
              <a:gd name="adj" fmla="val 4848"/>
            </a:avLst>
          </a:prstGeom>
          <a:solidFill>
            <a:srgbClr val="10121E"/>
          </a:solidFill>
          <a:ln w="12700">
            <a:solidFill>
              <a:srgbClr val="2D2845"/>
            </a:solidFill>
            <a:prstDash val="solid"/>
          </a:ln>
        </p:spPr>
      </p:sp>
      <p:sp>
        <p:nvSpPr>
          <p:cNvPr id="12" name="Text 9"/>
          <p:cNvSpPr/>
          <p:nvPr/>
        </p:nvSpPr>
        <p:spPr>
          <a:xfrm>
            <a:off x="6355080" y="1645920"/>
            <a:ext cx="4892040" cy="228600"/>
          </a:xfrm>
          <a:prstGeom prst="rect">
            <a:avLst/>
          </a:prstGeom>
          <a:noFill/>
          <a:ln/>
        </p:spPr>
        <p:txBody>
          <a:bodyPr wrap="square" rtlCol="0" anchor="ctr"/>
          <a:lstStyle/>
          <a:p>
            <a:pPr indent="0" marL="0">
              <a:buNone/>
            </a:pPr>
            <a:r>
              <a:rPr lang="en-US" sz="850" b="1" dirty="0">
                <a:solidFill>
                  <a:srgbClr val="10B981"/>
                </a:solidFill>
                <a:latin typeface="Arial" pitchFamily="34" charset="0"/>
                <a:ea typeface="Arial" pitchFamily="34" charset="-122"/>
                <a:cs typeface="Arial" pitchFamily="34" charset="-120"/>
              </a:rPr>
              <a:t>📦  SUPPLY CHAIN</a:t>
            </a:r>
            <a:endParaRPr lang="en-US" sz="850" dirty="0"/>
          </a:p>
        </p:txBody>
      </p:sp>
      <p:sp>
        <p:nvSpPr>
          <p:cNvPr id="13" name="Text 10"/>
          <p:cNvSpPr/>
          <p:nvPr/>
        </p:nvSpPr>
        <p:spPr>
          <a:xfrm>
            <a:off x="6355080" y="189280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Phase 6: OpenSSF Scorecard Integration</a:t>
            </a:r>
            <a:endParaRPr lang="en-US" sz="1200" dirty="0"/>
          </a:p>
        </p:txBody>
      </p:sp>
      <p:sp>
        <p:nvSpPr>
          <p:cNvPr id="14" name="Text 11"/>
          <p:cNvSpPr/>
          <p:nvPr/>
        </p:nvSpPr>
        <p:spPr>
          <a:xfrm>
            <a:off x="6355080" y="225856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Automated CI/CD supply-chain trust scoring across dependencies and GitHub repositories for developers auditing third-party open-source packages.</a:t>
            </a:r>
            <a:endParaRPr lang="en-US" sz="900" dirty="0"/>
          </a:p>
        </p:txBody>
      </p:sp>
      <p:sp>
        <p:nvSpPr>
          <p:cNvPr id="15" name="Shape 12"/>
          <p:cNvSpPr/>
          <p:nvPr/>
        </p:nvSpPr>
        <p:spPr>
          <a:xfrm>
            <a:off x="731520" y="4000500"/>
            <a:ext cx="5257800" cy="2263140"/>
          </a:xfrm>
          <a:prstGeom prst="roundRect">
            <a:avLst>
              <a:gd name="adj" fmla="val 4848"/>
            </a:avLst>
          </a:prstGeom>
          <a:solidFill>
            <a:srgbClr val="10121E"/>
          </a:solidFill>
          <a:ln w="12700">
            <a:solidFill>
              <a:srgbClr val="2D2845"/>
            </a:solidFill>
            <a:prstDash val="solid"/>
          </a:ln>
        </p:spPr>
      </p:sp>
      <p:sp>
        <p:nvSpPr>
          <p:cNvPr id="16" name="Text 13"/>
          <p:cNvSpPr/>
          <p:nvPr/>
        </p:nvSpPr>
        <p:spPr>
          <a:xfrm>
            <a:off x="914400" y="4137660"/>
            <a:ext cx="4892040" cy="228600"/>
          </a:xfrm>
          <a:prstGeom prst="rect">
            <a:avLst/>
          </a:prstGeom>
          <a:noFill/>
          <a:ln/>
        </p:spPr>
        <p:txBody>
          <a:bodyPr wrap="square" rtlCol="0" anchor="ctr"/>
          <a:lstStyle/>
          <a:p>
            <a:pPr indent="0" marL="0">
              <a:buNone/>
            </a:pPr>
            <a:r>
              <a:rPr lang="en-US" sz="850" b="1" dirty="0">
                <a:solidFill>
                  <a:srgbClr val="8B5CF6"/>
                </a:solidFill>
                <a:latin typeface="Arial" pitchFamily="34" charset="0"/>
                <a:ea typeface="Arial" pitchFamily="34" charset="-122"/>
                <a:cs typeface="Arial" pitchFamily="34" charset="-120"/>
              </a:rPr>
              <a:t>🤖  AGENT SECURITY</a:t>
            </a:r>
            <a:endParaRPr lang="en-US" sz="850" dirty="0"/>
          </a:p>
        </p:txBody>
      </p:sp>
      <p:sp>
        <p:nvSpPr>
          <p:cNvPr id="17" name="Text 14"/>
          <p:cNvSpPr/>
          <p:nvPr/>
        </p:nvSpPr>
        <p:spPr>
          <a:xfrm>
            <a:off x="91440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Phase 7: Agent Component Check</a:t>
            </a:r>
            <a:endParaRPr lang="en-US" sz="1200" dirty="0"/>
          </a:p>
        </p:txBody>
      </p:sp>
      <p:sp>
        <p:nvSpPr>
          <p:cNvPr id="18" name="Text 15"/>
          <p:cNvSpPr/>
          <p:nvPr/>
        </p:nvSpPr>
        <p:spPr>
          <a:xfrm>
            <a:off x="91440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Static analysis for autonomous AI agents, auditing Model Context Protocol (MCP) servers, tool manifests, and prompt injection surface areas.</a:t>
            </a:r>
            <a:endParaRPr lang="en-US" sz="900" dirty="0"/>
          </a:p>
        </p:txBody>
      </p:sp>
      <p:sp>
        <p:nvSpPr>
          <p:cNvPr id="19" name="Shape 16"/>
          <p:cNvSpPr/>
          <p:nvPr/>
        </p:nvSpPr>
        <p:spPr>
          <a:xfrm>
            <a:off x="6172200" y="4000500"/>
            <a:ext cx="5257800" cy="2263140"/>
          </a:xfrm>
          <a:prstGeom prst="roundRect">
            <a:avLst>
              <a:gd name="adj" fmla="val 4848"/>
            </a:avLst>
          </a:prstGeom>
          <a:solidFill>
            <a:srgbClr val="10121E"/>
          </a:solidFill>
          <a:ln w="12700">
            <a:solidFill>
              <a:srgbClr val="2D2845"/>
            </a:solidFill>
            <a:prstDash val="solid"/>
          </a:ln>
        </p:spPr>
      </p:sp>
      <p:sp>
        <p:nvSpPr>
          <p:cNvPr id="20" name="Text 17"/>
          <p:cNvSpPr/>
          <p:nvPr/>
        </p:nvSpPr>
        <p:spPr>
          <a:xfrm>
            <a:off x="6355080" y="4137660"/>
            <a:ext cx="4892040" cy="228600"/>
          </a:xfrm>
          <a:prstGeom prst="rect">
            <a:avLst/>
          </a:prstGeom>
          <a:noFill/>
          <a:ln/>
        </p:spPr>
        <p:txBody>
          <a:bodyPr wrap="square" rtlCol="0" anchor="ctr"/>
          <a:lstStyle/>
          <a:p>
            <a:pPr indent="0" marL="0">
              <a:buNone/>
            </a:pPr>
            <a:r>
              <a:rPr lang="en-US" sz="850" b="1" dirty="0">
                <a:solidFill>
                  <a:srgbClr val="F59E0B"/>
                </a:solidFill>
                <a:latin typeface="Arial" pitchFamily="34" charset="0"/>
                <a:ea typeface="Arial" pitchFamily="34" charset="-122"/>
                <a:cs typeface="Arial" pitchFamily="34" charset="-120"/>
              </a:rPr>
              <a:t>🌐  DECENTRALIZED INTEL</a:t>
            </a:r>
            <a:endParaRPr lang="en-US" sz="850" dirty="0"/>
          </a:p>
        </p:txBody>
      </p:sp>
      <p:sp>
        <p:nvSpPr>
          <p:cNvPr id="21" name="Text 18"/>
          <p:cNvSpPr/>
          <p:nvPr/>
        </p:nvSpPr>
        <p:spPr>
          <a:xfrm>
            <a:off x="6355080" y="4384548"/>
            <a:ext cx="4892040" cy="347472"/>
          </a:xfrm>
          <a:prstGeom prst="rect">
            <a:avLst/>
          </a:prstGeom>
          <a:noFill/>
          <a:ln/>
        </p:spPr>
        <p:txBody>
          <a:bodyPr wrap="square" rtlCol="0" anchor="ctr"/>
          <a:lstStyle/>
          <a:p>
            <a:pPr indent="0" marL="0">
              <a:buNone/>
            </a:pPr>
            <a:r>
              <a:rPr lang="en-US" sz="1200" b="1" dirty="0">
                <a:solidFill>
                  <a:srgbClr val="F5F5FA"/>
                </a:solidFill>
                <a:latin typeface="Arial" pitchFamily="34" charset="0"/>
                <a:ea typeface="Arial" pitchFamily="34" charset="-122"/>
                <a:cs typeface="Arial" pitchFamily="34" charset="-120"/>
              </a:rPr>
              <a:t>Phase 8: Decentralized Threat Registry</a:t>
            </a:r>
            <a:endParaRPr lang="en-US" sz="1200" dirty="0"/>
          </a:p>
        </p:txBody>
      </p:sp>
      <p:sp>
        <p:nvSpPr>
          <p:cNvPr id="22" name="Text 19"/>
          <p:cNvSpPr/>
          <p:nvPr/>
        </p:nvSpPr>
        <p:spPr>
          <a:xfrm>
            <a:off x="6355080" y="4750308"/>
            <a:ext cx="4892040" cy="1394460"/>
          </a:xfrm>
          <a:prstGeom prst="rect">
            <a:avLst/>
          </a:prstGeom>
          <a:noFill/>
          <a:ln/>
        </p:spPr>
        <p:txBody>
          <a:bodyPr wrap="square" rtlCol="0" anchor="ctr"/>
          <a:lstStyle/>
          <a:p>
            <a:pPr indent="0" marL="0">
              <a:lnSpc>
                <a:spcPts val="1300"/>
              </a:lnSpc>
              <a:buNone/>
            </a:pPr>
            <a:r>
              <a:rPr lang="en-US" sz="900" dirty="0">
                <a:solidFill>
                  <a:srgbClr val="9295AA"/>
                </a:solidFill>
                <a:latin typeface="Arial" pitchFamily="34" charset="0"/>
                <a:ea typeface="Arial" pitchFamily="34" charset="-122"/>
                <a:cs typeface="Arial" pitchFamily="34" charset="-120"/>
              </a:rPr>
              <a:t>A privacy-preserving, zero-knowledge threat feed allowing verified institutions to share emerging scam hashes without exposing victim identities.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Protector Security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Protector — Master Technology &amp; Architecture Pitch</dc:title>
  <dc:subject>PptxGenJS Presentation</dc:subject>
  <dc:creator>Lead Engineering Team</dc:creator>
  <cp:lastModifiedBy>Lead Engineering Team</cp:lastModifiedBy>
  <cp:revision>1</cp:revision>
  <dcterms:created xsi:type="dcterms:W3CDTF">2026-10-23T03:42:05Z</dcterms:created>
  <dcterms:modified xsi:type="dcterms:W3CDTF">2026-10-23T03:42:05Z</dcterms:modified>
</cp:coreProperties>
</file>